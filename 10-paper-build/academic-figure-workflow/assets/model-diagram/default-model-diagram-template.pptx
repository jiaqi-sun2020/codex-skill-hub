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218443a04480f" /><Relationship Type="http://schemas.openxmlformats.org/officeDocument/2006/relationships/extended-properties" Target="/docProps/app.xml" Id="Rec23bc9844a74bbf" /><Relationship Type="http://schemas.openxmlformats.org/officeDocument/2006/relationships/officeDocument" Target="/ppt/presentation.xml" Id="Rb47c487039d2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19f66bcf754351"/>
  </p:sldMasterIdLst>
  <p:notesMasterIdLst>
    <p:notesMasterId xmlns:r="http://schemas.openxmlformats.org/officeDocument/2006/relationships" r:id="R1755e361847e4308"/>
  </p:notesMasterIdLst>
  <p:sldIdLst>
    <p:sldId xmlns:r="http://schemas.openxmlformats.org/officeDocument/2006/relationships" id="256" r:id="R11ee0fb3e4b34492"/>
    <p:sldId xmlns:r="http://schemas.openxmlformats.org/officeDocument/2006/relationships" id="257" r:id="R3d7aad9901c94e1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6159188db4434c" /><Relationship Type="http://schemas.openxmlformats.org/officeDocument/2006/relationships/slideMaster" Target="/ppt/slideMasters/slideMaster1.xml" Id="R6819f66bcf754351" /><Relationship Type="http://schemas.openxmlformats.org/officeDocument/2006/relationships/notesMaster" Target="/ppt/notesMasters/notesMaster1.xml" Id="R1755e361847e4308" /><Relationship Type="http://schemas.openxmlformats.org/officeDocument/2006/relationships/presProps" Target="/ppt/presProps.xml" Id="Ra697d59b121b4179" /><Relationship Type="http://schemas.openxmlformats.org/officeDocument/2006/relationships/viewProps" Target="/ppt/viewProps.xml" Id="R254890f6e62c4f50" /><Relationship Type="http://schemas.openxmlformats.org/officeDocument/2006/relationships/tableStyles" Target="/ppt/tableStyles.xml" Id="R2501f6584fff448a" /><Relationship Type="http://schemas.openxmlformats.org/officeDocument/2006/relationships/slide" Target="/ppt/slides/slide1.xml" Id="R11ee0fb3e4b34492" /><Relationship Type="http://schemas.openxmlformats.org/officeDocument/2006/relationships/slide" Target="/ppt/slides/slide2.xml" Id="R3d7aad9901c94e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05923d8a54b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pectrum Paper V4">
      <a:dk1>
        <a:srgbClr val="000000"/>
      </a:dk1>
      <a:lt1>
        <a:srgbClr val="FFFFFF"/>
      </a:lt1>
      <a:dk2>
        <a:srgbClr val="173153"/>
      </a:dk2>
      <a:lt2>
        <a:srgbClr val="F7F9FC"/>
      </a:lt2>
      <a:accent1>
        <a:srgbClr val="B7CAE8"/>
      </a:accent1>
      <a:accent2>
        <a:srgbClr val="C7E2B8"/>
      </a:accent2>
      <a:accent3>
        <a:srgbClr val="F7E5B2"/>
      </a:accent3>
      <a:accent4>
        <a:srgbClr val="E3DFF2"/>
      </a:accent4>
      <a:accent5>
        <a:srgbClr val="F1B9BC"/>
      </a:accent5>
      <a:accent6>
        <a:srgbClr val="E38359"/>
      </a:accent6>
      <a:hlink>
        <a:srgbClr val="E38359"/>
      </a:hlink>
      <a:folHlink>
        <a:srgbClr val="DDB8E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ectrum Paper V4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8a3b68bc64b76" /><Relationship Type="http://schemas.openxmlformats.org/officeDocument/2006/relationships/notesMaster" Target="/ppt/notesMasters/notesMaster1.xml" Id="R8fe5d61763914e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bbe1e0e0c0413f" /><Relationship Type="http://schemas.openxmlformats.org/officeDocument/2006/relationships/notesMaster" Target="/ppt/notesMasters/notesMaster1.xml" Id="R281eea8e41e44e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use]</a:t>
            </a:r>
          </a:p>
          <a:p xmlns:a="http://schemas.openxmlformats.org/drawingml/2006/main">
            <a:r>
              <a:t>This slide is a user-approved visual and layout exemplar for an editable academic model diagram.</a:t>
            </a:r>
          </a:p>
          <a:p xmlns:a="http://schemas.openxmlformats.org/drawingml/2006/main">
            <a:r>
              <a:t>Clone the source slide and edit inherited objects in place. Preserve the visual grammar, not the example network content.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[Required replacement]</a:t>
            </a:r>
            <a:endParaRPr/>
          </a:p>
          <a:p xmlns:a="http://schemas.openxmlformats.org/drawingml/2006/main">
            <a:r>
              <a:t>Replace the title, input, preprocessing, branches, tensor dimensions, operators, pooling/fusion/regression stages, output, detailed module panel, caption, and sources with evidence-backed content from the target project.</a:t>
            </a:r>
          </a:p>
          <a:p xmlns:a="http://schemas.openxmlformats.org/drawingml/2006/main">
            <a:r>
              <a:t>Do not carry Dual-branch, InceptionTime, 256 positions, seven physical descriptors, or temperature regression into a new figure unless they are verified for that project.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[Template source]</a:t>
            </a:r>
          </a:p>
          <a:p xmlns:a="http://schemas.openxmlformats.org/drawingml/2006/main">
            <a:r>
              <a:t>User-refined Figure 1 sample from the spectrum project; packaged as the academic-figure-workflow default PPT model-diagram template on 2026-08-30.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use]</a:t>
            </a:r>
          </a:p>
          <a:p xmlns:a="http://schemas.openxmlformats.org/drawingml/2006/main">
            <a:r>
              <a:t>This component board supplies the approved semantic colours, module treatments, connector semantics, publication-size gate, and independently movable native PowerPoint components.</a:t>
            </a:r>
          </a:p>
          <a:p xmlns:a="http://schemas.openxmlformats.org/drawingml/2006/main">
            <a:r>
              <a:t>Copy components as needed, then update every label and source trace for the target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45113ee59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ef525c9a9a4c58" /><Relationship Type="http://schemas.openxmlformats.org/officeDocument/2006/relationships/slideLayout" Target="/ppt/slideLayouts/slideLayout1.xml" Id="Rb56eae7bd5ca4b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6eae7bd5ca4b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pectrum Paper V4">
      <a:dk1>
        <a:srgbClr val="000000"/>
      </a:dk1>
      <a:lt1>
        <a:srgbClr val="FFFFFF"/>
      </a:lt1>
      <a:dk2>
        <a:srgbClr val="173153"/>
      </a:dk2>
      <a:lt2>
        <a:srgbClr val="F7F9FC"/>
      </a:lt2>
      <a:accent1>
        <a:srgbClr val="B7CAE8"/>
      </a:accent1>
      <a:accent2>
        <a:srgbClr val="C7E2B8"/>
      </a:accent2>
      <a:accent3>
        <a:srgbClr val="F7E5B2"/>
      </a:accent3>
      <a:accent4>
        <a:srgbClr val="E3DFF2"/>
      </a:accent4>
      <a:accent5>
        <a:srgbClr val="F1B9BC"/>
      </a:accent5>
      <a:accent6>
        <a:srgbClr val="E38359"/>
      </a:accent6>
      <a:hlink>
        <a:srgbClr val="E38359"/>
      </a:hlink>
      <a:folHlink>
        <a:srgbClr val="DDB8E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ectrum Paper V4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230874ccf4d49" /><Relationship Type="http://schemas.openxmlformats.org/officeDocument/2006/relationships/notesSlide" Target="/ppt/notesSlides/notesSlide1.xml" Id="Rdcb0379dbb3243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2a424eee34baa" /><Relationship Type="http://schemas.openxmlformats.org/officeDocument/2006/relationships/notesSlide" Target="/ppt/notesSlides/notesSlide2.xml" Id="Rb99add36b21a42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panel_a_label">
            <a:extLst xmlns:a="http://schemas.openxmlformats.org/drawingml/2006/main">
              <a:ext uri="{FF2B5EF4-FFF2-40B4-BE49-F238E27FC236}">
                <a16:creationId xmlns:a16="http://schemas.microsoft.com/office/drawing/2014/main" id="{F2DFBD71-A46C-4E2F-9E59-E79C406D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3153"/>
                </a:solidFill>
              </a:defRPr>
            </a:pPr>
            <a:r>
              <a:rPr sz="2025" b="1" i="0">
                <a:solidFill>
                  <a:srgbClr val="173153"/>
                </a:solidFill>
              </a:rPr>
              <a:t>(a)</a:t>
            </a:r>
          </a:p>
        </p:txBody>
      </p:sp>
      <p:sp>
        <p:nvSpPr>
          <p:cNvPr id="2" name="panel_a_title">
            <a:extLst xmlns:a="http://schemas.openxmlformats.org/drawingml/2006/main">
              <a:ext uri="{FF2B5EF4-FFF2-40B4-BE49-F238E27FC236}">
                <a16:creationId xmlns:a16="http://schemas.microsoft.com/office/drawing/2014/main" id="{72CA2E1C-C5E8-496A-A035-5D2AE1C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73153"/>
                </a:solidFill>
              </a:defRPr>
            </a:pPr>
            <a:r>
              <a:rPr sz="1875" b="1" i="0">
                <a:solidFill>
                  <a:srgbClr val="173153"/>
                </a:solidFill>
              </a:rPr>
              <a:t>Dual-branch spectrum-to-temperature model</a:t>
            </a:r>
          </a:p>
        </p:txBody>
      </p:sp>
      <p:sp>
        <p:nvSpPr>
          <p:cNvPr id="3" name="spectral_lane">
            <a:extLst xmlns:a="http://schemas.openxmlformats.org/drawingml/2006/main">
              <a:ext uri="{FF2B5EF4-FFF2-40B4-BE49-F238E27FC236}">
                <a16:creationId xmlns:a16="http://schemas.microsoft.com/office/drawing/2014/main" id="{32F708B3-6635-4910-AFE8-4117D49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42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627087"/>
                </a:solidFill>
              </a:defRPr>
            </a:pPr>
            <a:r>
              <a:rPr sz="1575" b="1" i="0">
                <a:solidFill>
                  <a:srgbClr val="627087"/>
                </a:solidFill>
              </a:rPr>
              <a:t>Spectral-shape branch</a:t>
            </a:r>
          </a:p>
        </p:txBody>
      </p:sp>
      <p:sp>
        <p:nvSpPr>
          <p:cNvPr id="4" name="physical_lane">
            <a:extLst xmlns:a="http://schemas.openxmlformats.org/drawingml/2006/main">
              <a:ext uri="{FF2B5EF4-FFF2-40B4-BE49-F238E27FC236}">
                <a16:creationId xmlns:a16="http://schemas.microsoft.com/office/drawing/2014/main" id="{D87D69F6-BE14-451F-AF6E-1248C3F0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627087"/>
                </a:solidFill>
              </a:defRPr>
            </a:pPr>
            <a:r>
              <a:rPr sz="1575" b="1" i="0">
                <a:solidFill>
                  <a:srgbClr val="627087"/>
                </a:solidFill>
              </a:rPr>
              <a:t>Physical-feature branch</a:t>
            </a:r>
          </a:p>
        </p:txBody>
      </p:sp>
      <p:sp>
        <p:nvSpPr>
          <p:cNvPr id="5" name="measured_spectrum">
            <a:extLst xmlns:a="http://schemas.openxmlformats.org/drawingml/2006/main">
              <a:ext uri="{FF2B5EF4-FFF2-40B4-BE49-F238E27FC236}">
                <a16:creationId xmlns:a16="http://schemas.microsoft.com/office/drawing/2014/main" id="{545B056B-59B6-411C-8208-C5374CB0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0"/>
            <a:ext cx="2190750" cy="247650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B7CAE8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6" name="measured_spectrum_title">
            <a:extLst xmlns:a="http://schemas.openxmlformats.org/drawingml/2006/main">
              <a:ext uri="{FF2B5EF4-FFF2-40B4-BE49-F238E27FC236}">
                <a16:creationId xmlns:a16="http://schemas.microsoft.com/office/drawing/2014/main" id="{54DAD6E1-CD6A-4A67-9FCE-3337CC76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Measured spectrum</a:t>
            </a:r>
          </a:p>
        </p:txBody>
      </p:sp>
      <p:sp>
        <p:nvSpPr>
          <p:cNvPr id="7" name="measured_spectrum_x">
            <a:extLst xmlns:a="http://schemas.openxmlformats.org/drawingml/2006/main">
              <a:ext uri="{FF2B5EF4-FFF2-40B4-BE49-F238E27FC236}">
                <a16:creationId xmlns:a16="http://schemas.microsoft.com/office/drawing/2014/main" id="{80FD2306-DEB4-4377-B030-41A9D9F5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8" name="measured_spectrum_y">
            <a:extLst xmlns:a="http://schemas.openxmlformats.org/drawingml/2006/main">
              <a:ext uri="{FF2B5EF4-FFF2-40B4-BE49-F238E27FC236}">
                <a16:creationId xmlns:a16="http://schemas.microsoft.com/office/drawing/2014/main" id="{609DA9F7-6C9D-4A73-A993-D1A15B3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9" name="measured_spectrum_trace">
            <a:extLst xmlns:a="http://schemas.openxmlformats.org/drawingml/2006/main">
              <a:ext uri="{FF2B5EF4-FFF2-40B4-BE49-F238E27FC236}">
                <a16:creationId xmlns:a16="http://schemas.microsoft.com/office/drawing/2014/main" id="{64C75BF7-BC12-4180-8303-01CE8892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504950" cy="1485900"/>
          </a:xfrm>
          <a:custGeom xmlns:a="http://schemas.openxmlformats.org/drawingml/2006/main">
            <a:rect l="0" t="0" r="0" b="0"/>
            <a:pathLst>
              <a:path w="1504950" h="1485900">
                <a:moveTo>
                  <a:pt x="0" y="1219200"/>
                </a:moveTo>
                <a:lnTo>
                  <a:pt x="9525" y="1219200"/>
                </a:lnTo>
                <a:lnTo>
                  <a:pt x="9525" y="1219200"/>
                </a:lnTo>
                <a:lnTo>
                  <a:pt x="19050" y="1209675"/>
                </a:lnTo>
                <a:lnTo>
                  <a:pt x="19050" y="1209675"/>
                </a:lnTo>
                <a:lnTo>
                  <a:pt x="28575" y="1209675"/>
                </a:lnTo>
                <a:lnTo>
                  <a:pt x="38100" y="1200150"/>
                </a:lnTo>
                <a:lnTo>
                  <a:pt x="38100" y="1200150"/>
                </a:lnTo>
                <a:lnTo>
                  <a:pt x="47625" y="1200150"/>
                </a:lnTo>
                <a:lnTo>
                  <a:pt x="57150" y="1200150"/>
                </a:lnTo>
                <a:lnTo>
                  <a:pt x="57150" y="1200150"/>
                </a:lnTo>
                <a:lnTo>
                  <a:pt x="66675" y="1200150"/>
                </a:lnTo>
                <a:lnTo>
                  <a:pt x="66675" y="1200150"/>
                </a:lnTo>
                <a:lnTo>
                  <a:pt x="76200" y="1200150"/>
                </a:lnTo>
                <a:lnTo>
                  <a:pt x="85725" y="1200150"/>
                </a:lnTo>
                <a:lnTo>
                  <a:pt x="85725" y="1200150"/>
                </a:lnTo>
                <a:lnTo>
                  <a:pt x="95250" y="1209675"/>
                </a:lnTo>
                <a:lnTo>
                  <a:pt x="104775" y="1209675"/>
                </a:lnTo>
                <a:lnTo>
                  <a:pt x="104775" y="1200150"/>
                </a:lnTo>
                <a:lnTo>
                  <a:pt x="114300" y="1200150"/>
                </a:lnTo>
                <a:lnTo>
                  <a:pt x="114300" y="1200150"/>
                </a:lnTo>
                <a:lnTo>
                  <a:pt x="123825" y="1200150"/>
                </a:lnTo>
                <a:lnTo>
                  <a:pt x="133350" y="1200150"/>
                </a:lnTo>
                <a:lnTo>
                  <a:pt x="133350" y="1200150"/>
                </a:lnTo>
                <a:lnTo>
                  <a:pt x="142875" y="1209675"/>
                </a:lnTo>
                <a:lnTo>
                  <a:pt x="142875" y="1209675"/>
                </a:lnTo>
                <a:lnTo>
                  <a:pt x="152400" y="1209675"/>
                </a:lnTo>
                <a:lnTo>
                  <a:pt x="161925" y="1209675"/>
                </a:lnTo>
                <a:lnTo>
                  <a:pt x="161925" y="1209675"/>
                </a:lnTo>
                <a:lnTo>
                  <a:pt x="171450" y="1209675"/>
                </a:lnTo>
                <a:lnTo>
                  <a:pt x="180975" y="1209675"/>
                </a:lnTo>
                <a:lnTo>
                  <a:pt x="180975" y="1209675"/>
                </a:lnTo>
                <a:lnTo>
                  <a:pt x="190500" y="1209675"/>
                </a:lnTo>
                <a:lnTo>
                  <a:pt x="190500" y="1209675"/>
                </a:lnTo>
                <a:lnTo>
                  <a:pt x="200025" y="1209675"/>
                </a:lnTo>
                <a:lnTo>
                  <a:pt x="209550" y="1200150"/>
                </a:lnTo>
                <a:lnTo>
                  <a:pt x="209550" y="1200150"/>
                </a:lnTo>
                <a:lnTo>
                  <a:pt x="219075" y="1200150"/>
                </a:lnTo>
                <a:lnTo>
                  <a:pt x="228600" y="1200150"/>
                </a:lnTo>
                <a:lnTo>
                  <a:pt x="228600" y="1200150"/>
                </a:lnTo>
                <a:lnTo>
                  <a:pt x="238125" y="1200150"/>
                </a:lnTo>
                <a:lnTo>
                  <a:pt x="238125" y="1200150"/>
                </a:lnTo>
                <a:lnTo>
                  <a:pt x="247650" y="1200150"/>
                </a:lnTo>
                <a:lnTo>
                  <a:pt x="257175" y="1200150"/>
                </a:lnTo>
                <a:lnTo>
                  <a:pt x="257175" y="1200150"/>
                </a:lnTo>
                <a:lnTo>
                  <a:pt x="266700" y="1200150"/>
                </a:lnTo>
                <a:lnTo>
                  <a:pt x="276225" y="1190625"/>
                </a:lnTo>
                <a:lnTo>
                  <a:pt x="276225" y="1190625"/>
                </a:lnTo>
                <a:lnTo>
                  <a:pt x="285750" y="1171575"/>
                </a:lnTo>
                <a:lnTo>
                  <a:pt x="285750" y="1152525"/>
                </a:lnTo>
                <a:lnTo>
                  <a:pt x="295275" y="1104900"/>
                </a:lnTo>
                <a:lnTo>
                  <a:pt x="304800" y="1047750"/>
                </a:lnTo>
                <a:lnTo>
                  <a:pt x="304800" y="981075"/>
                </a:lnTo>
                <a:lnTo>
                  <a:pt x="314325" y="914400"/>
                </a:lnTo>
                <a:lnTo>
                  <a:pt x="314325" y="847725"/>
                </a:lnTo>
                <a:lnTo>
                  <a:pt x="323850" y="781050"/>
                </a:lnTo>
                <a:lnTo>
                  <a:pt x="333375" y="723900"/>
                </a:lnTo>
                <a:lnTo>
                  <a:pt x="333375" y="685800"/>
                </a:lnTo>
                <a:lnTo>
                  <a:pt x="342900" y="657225"/>
                </a:lnTo>
                <a:lnTo>
                  <a:pt x="352425" y="638175"/>
                </a:lnTo>
                <a:lnTo>
                  <a:pt x="352425" y="619125"/>
                </a:lnTo>
                <a:lnTo>
                  <a:pt x="361950" y="600075"/>
                </a:lnTo>
                <a:lnTo>
                  <a:pt x="361950" y="581025"/>
                </a:lnTo>
                <a:lnTo>
                  <a:pt x="371475" y="571500"/>
                </a:lnTo>
                <a:lnTo>
                  <a:pt x="381000" y="552450"/>
                </a:lnTo>
                <a:lnTo>
                  <a:pt x="381000" y="542925"/>
                </a:lnTo>
                <a:lnTo>
                  <a:pt x="390525" y="523875"/>
                </a:lnTo>
                <a:lnTo>
                  <a:pt x="400050" y="504825"/>
                </a:lnTo>
                <a:lnTo>
                  <a:pt x="400050" y="476250"/>
                </a:lnTo>
                <a:lnTo>
                  <a:pt x="409575" y="457200"/>
                </a:lnTo>
                <a:lnTo>
                  <a:pt x="409575" y="438150"/>
                </a:lnTo>
                <a:lnTo>
                  <a:pt x="419100" y="419100"/>
                </a:lnTo>
                <a:lnTo>
                  <a:pt x="428625" y="400050"/>
                </a:lnTo>
                <a:lnTo>
                  <a:pt x="428625" y="371475"/>
                </a:lnTo>
                <a:lnTo>
                  <a:pt x="438150" y="352425"/>
                </a:lnTo>
                <a:lnTo>
                  <a:pt x="438150" y="333375"/>
                </a:lnTo>
                <a:lnTo>
                  <a:pt x="447675" y="314325"/>
                </a:lnTo>
                <a:lnTo>
                  <a:pt x="457200" y="295275"/>
                </a:lnTo>
                <a:lnTo>
                  <a:pt x="457200" y="266700"/>
                </a:lnTo>
                <a:lnTo>
                  <a:pt x="466725" y="238125"/>
                </a:lnTo>
                <a:lnTo>
                  <a:pt x="476250" y="219075"/>
                </a:lnTo>
                <a:lnTo>
                  <a:pt x="476250" y="200025"/>
                </a:lnTo>
                <a:lnTo>
                  <a:pt x="485775" y="171450"/>
                </a:lnTo>
                <a:lnTo>
                  <a:pt x="485775" y="142875"/>
                </a:lnTo>
                <a:lnTo>
                  <a:pt x="495300" y="123825"/>
                </a:lnTo>
                <a:lnTo>
                  <a:pt x="504825" y="104775"/>
                </a:lnTo>
                <a:lnTo>
                  <a:pt x="504825" y="85725"/>
                </a:lnTo>
                <a:lnTo>
                  <a:pt x="514350" y="66675"/>
                </a:lnTo>
                <a:lnTo>
                  <a:pt x="523875" y="47625"/>
                </a:lnTo>
                <a:lnTo>
                  <a:pt x="523875" y="38100"/>
                </a:lnTo>
                <a:lnTo>
                  <a:pt x="533400" y="28575"/>
                </a:lnTo>
                <a:lnTo>
                  <a:pt x="533400" y="28575"/>
                </a:lnTo>
                <a:lnTo>
                  <a:pt x="542925" y="19050"/>
                </a:lnTo>
                <a:lnTo>
                  <a:pt x="552450" y="19050"/>
                </a:lnTo>
                <a:lnTo>
                  <a:pt x="552450" y="19050"/>
                </a:lnTo>
                <a:lnTo>
                  <a:pt x="561975" y="9525"/>
                </a:lnTo>
                <a:lnTo>
                  <a:pt x="561975" y="9525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9525"/>
                </a:lnTo>
                <a:lnTo>
                  <a:pt x="590550" y="19050"/>
                </a:lnTo>
                <a:lnTo>
                  <a:pt x="600075" y="19050"/>
                </a:lnTo>
                <a:lnTo>
                  <a:pt x="600075" y="19050"/>
                </a:lnTo>
                <a:lnTo>
                  <a:pt x="609600" y="28575"/>
                </a:lnTo>
                <a:lnTo>
                  <a:pt x="609600" y="38100"/>
                </a:lnTo>
                <a:lnTo>
                  <a:pt x="619125" y="38100"/>
                </a:lnTo>
                <a:lnTo>
                  <a:pt x="628650" y="47625"/>
                </a:lnTo>
                <a:lnTo>
                  <a:pt x="628650" y="66675"/>
                </a:lnTo>
                <a:lnTo>
                  <a:pt x="638175" y="76200"/>
                </a:lnTo>
                <a:lnTo>
                  <a:pt x="647700" y="85725"/>
                </a:lnTo>
                <a:lnTo>
                  <a:pt x="647700" y="95250"/>
                </a:lnTo>
                <a:lnTo>
                  <a:pt x="657225" y="114300"/>
                </a:lnTo>
                <a:lnTo>
                  <a:pt x="657225" y="133350"/>
                </a:lnTo>
                <a:lnTo>
                  <a:pt x="666750" y="152400"/>
                </a:lnTo>
                <a:lnTo>
                  <a:pt x="676275" y="161925"/>
                </a:lnTo>
                <a:lnTo>
                  <a:pt x="676275" y="180975"/>
                </a:lnTo>
                <a:lnTo>
                  <a:pt x="685800" y="200025"/>
                </a:lnTo>
                <a:lnTo>
                  <a:pt x="685800" y="209550"/>
                </a:lnTo>
                <a:lnTo>
                  <a:pt x="695325" y="228600"/>
                </a:lnTo>
                <a:lnTo>
                  <a:pt x="704850" y="247650"/>
                </a:lnTo>
                <a:lnTo>
                  <a:pt x="704850" y="266700"/>
                </a:lnTo>
                <a:lnTo>
                  <a:pt x="714375" y="285750"/>
                </a:lnTo>
                <a:lnTo>
                  <a:pt x="723900" y="304800"/>
                </a:lnTo>
                <a:lnTo>
                  <a:pt x="723900" y="323850"/>
                </a:lnTo>
                <a:lnTo>
                  <a:pt x="733425" y="342900"/>
                </a:lnTo>
                <a:lnTo>
                  <a:pt x="733425" y="361950"/>
                </a:lnTo>
                <a:lnTo>
                  <a:pt x="742950" y="390525"/>
                </a:lnTo>
                <a:lnTo>
                  <a:pt x="752475" y="409575"/>
                </a:lnTo>
                <a:lnTo>
                  <a:pt x="752475" y="428625"/>
                </a:lnTo>
                <a:lnTo>
                  <a:pt x="762000" y="438150"/>
                </a:lnTo>
                <a:lnTo>
                  <a:pt x="771525" y="466725"/>
                </a:lnTo>
                <a:lnTo>
                  <a:pt x="771525" y="476250"/>
                </a:lnTo>
                <a:lnTo>
                  <a:pt x="781050" y="495300"/>
                </a:lnTo>
                <a:lnTo>
                  <a:pt x="781050" y="514350"/>
                </a:lnTo>
                <a:lnTo>
                  <a:pt x="790575" y="523875"/>
                </a:lnTo>
                <a:lnTo>
                  <a:pt x="800100" y="542925"/>
                </a:lnTo>
                <a:lnTo>
                  <a:pt x="800100" y="561975"/>
                </a:lnTo>
                <a:lnTo>
                  <a:pt x="809625" y="571500"/>
                </a:lnTo>
                <a:lnTo>
                  <a:pt x="819150" y="581025"/>
                </a:lnTo>
                <a:lnTo>
                  <a:pt x="819150" y="600075"/>
                </a:lnTo>
                <a:lnTo>
                  <a:pt x="828675" y="619125"/>
                </a:lnTo>
                <a:lnTo>
                  <a:pt x="828675" y="619125"/>
                </a:lnTo>
                <a:lnTo>
                  <a:pt x="838200" y="638175"/>
                </a:lnTo>
                <a:lnTo>
                  <a:pt x="847725" y="647700"/>
                </a:lnTo>
                <a:lnTo>
                  <a:pt x="847725" y="657225"/>
                </a:lnTo>
                <a:lnTo>
                  <a:pt x="857250" y="666750"/>
                </a:lnTo>
                <a:lnTo>
                  <a:pt x="857250" y="676275"/>
                </a:lnTo>
                <a:lnTo>
                  <a:pt x="866775" y="685800"/>
                </a:lnTo>
                <a:lnTo>
                  <a:pt x="876300" y="695325"/>
                </a:lnTo>
                <a:lnTo>
                  <a:pt x="876300" y="704850"/>
                </a:lnTo>
                <a:lnTo>
                  <a:pt x="885825" y="714375"/>
                </a:lnTo>
                <a:lnTo>
                  <a:pt x="895350" y="723900"/>
                </a:lnTo>
                <a:lnTo>
                  <a:pt x="895350" y="723900"/>
                </a:lnTo>
                <a:lnTo>
                  <a:pt x="904875" y="733425"/>
                </a:lnTo>
                <a:lnTo>
                  <a:pt x="904875" y="742950"/>
                </a:lnTo>
                <a:lnTo>
                  <a:pt x="914400" y="752475"/>
                </a:lnTo>
                <a:lnTo>
                  <a:pt x="923925" y="762000"/>
                </a:lnTo>
                <a:lnTo>
                  <a:pt x="923925" y="771525"/>
                </a:lnTo>
                <a:lnTo>
                  <a:pt x="933450" y="781050"/>
                </a:lnTo>
                <a:lnTo>
                  <a:pt x="942975" y="781050"/>
                </a:lnTo>
                <a:lnTo>
                  <a:pt x="942975" y="790575"/>
                </a:lnTo>
                <a:lnTo>
                  <a:pt x="952500" y="800100"/>
                </a:lnTo>
                <a:lnTo>
                  <a:pt x="952500" y="800100"/>
                </a:lnTo>
                <a:lnTo>
                  <a:pt x="962025" y="809625"/>
                </a:lnTo>
                <a:lnTo>
                  <a:pt x="971550" y="809625"/>
                </a:lnTo>
                <a:lnTo>
                  <a:pt x="971550" y="809625"/>
                </a:lnTo>
                <a:lnTo>
                  <a:pt x="981075" y="819150"/>
                </a:lnTo>
                <a:lnTo>
                  <a:pt x="981075" y="819150"/>
                </a:lnTo>
                <a:lnTo>
                  <a:pt x="990600" y="828675"/>
                </a:lnTo>
                <a:lnTo>
                  <a:pt x="1000125" y="828675"/>
                </a:lnTo>
                <a:lnTo>
                  <a:pt x="1000125" y="838200"/>
                </a:lnTo>
                <a:lnTo>
                  <a:pt x="1009650" y="847725"/>
                </a:lnTo>
                <a:lnTo>
                  <a:pt x="1019175" y="857250"/>
                </a:lnTo>
                <a:lnTo>
                  <a:pt x="1019175" y="866775"/>
                </a:lnTo>
                <a:lnTo>
                  <a:pt x="1028700" y="866775"/>
                </a:lnTo>
                <a:lnTo>
                  <a:pt x="1028700" y="876300"/>
                </a:lnTo>
                <a:lnTo>
                  <a:pt x="1038225" y="876300"/>
                </a:lnTo>
                <a:lnTo>
                  <a:pt x="1047750" y="876300"/>
                </a:lnTo>
                <a:lnTo>
                  <a:pt x="1047750" y="885825"/>
                </a:lnTo>
                <a:lnTo>
                  <a:pt x="1057275" y="885825"/>
                </a:lnTo>
                <a:lnTo>
                  <a:pt x="1066800" y="885825"/>
                </a:lnTo>
                <a:lnTo>
                  <a:pt x="1066800" y="895350"/>
                </a:lnTo>
                <a:lnTo>
                  <a:pt x="1076325" y="904875"/>
                </a:lnTo>
                <a:lnTo>
                  <a:pt x="1076325" y="904875"/>
                </a:lnTo>
                <a:lnTo>
                  <a:pt x="1085850" y="914400"/>
                </a:lnTo>
                <a:lnTo>
                  <a:pt x="1095375" y="923925"/>
                </a:lnTo>
                <a:lnTo>
                  <a:pt x="1095375" y="923925"/>
                </a:lnTo>
                <a:lnTo>
                  <a:pt x="1104900" y="933450"/>
                </a:lnTo>
                <a:lnTo>
                  <a:pt x="1104900" y="942975"/>
                </a:lnTo>
                <a:lnTo>
                  <a:pt x="1114425" y="942975"/>
                </a:lnTo>
                <a:lnTo>
                  <a:pt x="1123950" y="942975"/>
                </a:lnTo>
                <a:lnTo>
                  <a:pt x="1123950" y="952500"/>
                </a:lnTo>
                <a:lnTo>
                  <a:pt x="1133475" y="952500"/>
                </a:lnTo>
                <a:lnTo>
                  <a:pt x="1143000" y="952500"/>
                </a:lnTo>
                <a:lnTo>
                  <a:pt x="1143000" y="962025"/>
                </a:lnTo>
                <a:lnTo>
                  <a:pt x="1152525" y="971550"/>
                </a:lnTo>
                <a:lnTo>
                  <a:pt x="1152525" y="971550"/>
                </a:lnTo>
                <a:lnTo>
                  <a:pt x="1162050" y="981075"/>
                </a:lnTo>
                <a:lnTo>
                  <a:pt x="1171575" y="981075"/>
                </a:lnTo>
                <a:lnTo>
                  <a:pt x="1171575" y="990600"/>
                </a:lnTo>
                <a:lnTo>
                  <a:pt x="1181100" y="990600"/>
                </a:lnTo>
                <a:lnTo>
                  <a:pt x="1190625" y="990600"/>
                </a:lnTo>
                <a:lnTo>
                  <a:pt x="1190625" y="1000125"/>
                </a:lnTo>
                <a:lnTo>
                  <a:pt x="1200150" y="1000125"/>
                </a:lnTo>
                <a:lnTo>
                  <a:pt x="1200150" y="1000125"/>
                </a:lnTo>
                <a:lnTo>
                  <a:pt x="1209675" y="1009650"/>
                </a:lnTo>
                <a:lnTo>
                  <a:pt x="1219200" y="1009650"/>
                </a:lnTo>
                <a:lnTo>
                  <a:pt x="1219200" y="1019175"/>
                </a:lnTo>
                <a:lnTo>
                  <a:pt x="1228725" y="1019175"/>
                </a:lnTo>
                <a:lnTo>
                  <a:pt x="1228725" y="1028700"/>
                </a:lnTo>
                <a:lnTo>
                  <a:pt x="1238250" y="1028700"/>
                </a:lnTo>
                <a:lnTo>
                  <a:pt x="1247775" y="1038225"/>
                </a:lnTo>
                <a:lnTo>
                  <a:pt x="1247775" y="1038225"/>
                </a:lnTo>
                <a:lnTo>
                  <a:pt x="1257300" y="1047750"/>
                </a:lnTo>
                <a:lnTo>
                  <a:pt x="1266825" y="1047750"/>
                </a:lnTo>
                <a:lnTo>
                  <a:pt x="1266825" y="1057275"/>
                </a:lnTo>
                <a:lnTo>
                  <a:pt x="1276350" y="1057275"/>
                </a:lnTo>
                <a:lnTo>
                  <a:pt x="1276350" y="1066800"/>
                </a:lnTo>
                <a:lnTo>
                  <a:pt x="1285875" y="1066800"/>
                </a:lnTo>
                <a:lnTo>
                  <a:pt x="1295400" y="1066800"/>
                </a:lnTo>
                <a:lnTo>
                  <a:pt x="1295400" y="1076325"/>
                </a:lnTo>
                <a:lnTo>
                  <a:pt x="1304925" y="1076325"/>
                </a:lnTo>
                <a:lnTo>
                  <a:pt x="1314450" y="1076325"/>
                </a:lnTo>
                <a:lnTo>
                  <a:pt x="1314450" y="1076325"/>
                </a:lnTo>
                <a:lnTo>
                  <a:pt x="1323975" y="1076325"/>
                </a:lnTo>
                <a:lnTo>
                  <a:pt x="1323975" y="1076325"/>
                </a:lnTo>
                <a:lnTo>
                  <a:pt x="1333500" y="1085850"/>
                </a:lnTo>
                <a:lnTo>
                  <a:pt x="1343025" y="1085850"/>
                </a:lnTo>
                <a:lnTo>
                  <a:pt x="1343025" y="1085850"/>
                </a:lnTo>
                <a:lnTo>
                  <a:pt x="1352550" y="1095375"/>
                </a:lnTo>
                <a:lnTo>
                  <a:pt x="1362075" y="1095375"/>
                </a:lnTo>
                <a:lnTo>
                  <a:pt x="1362075" y="1095375"/>
                </a:lnTo>
                <a:lnTo>
                  <a:pt x="1371600" y="1095375"/>
                </a:lnTo>
                <a:lnTo>
                  <a:pt x="1371600" y="1104900"/>
                </a:lnTo>
                <a:lnTo>
                  <a:pt x="1381125" y="1104900"/>
                </a:lnTo>
                <a:lnTo>
                  <a:pt x="1390650" y="1114425"/>
                </a:lnTo>
                <a:lnTo>
                  <a:pt x="1390650" y="1114425"/>
                </a:lnTo>
                <a:lnTo>
                  <a:pt x="1400175" y="1114425"/>
                </a:lnTo>
                <a:lnTo>
                  <a:pt x="1400175" y="1123950"/>
                </a:lnTo>
                <a:lnTo>
                  <a:pt x="1409700" y="1123950"/>
                </a:lnTo>
                <a:lnTo>
                  <a:pt x="1419225" y="1123950"/>
                </a:lnTo>
                <a:lnTo>
                  <a:pt x="1419225" y="1123950"/>
                </a:lnTo>
                <a:lnTo>
                  <a:pt x="1428750" y="1123950"/>
                </a:lnTo>
                <a:lnTo>
                  <a:pt x="1438275" y="1133475"/>
                </a:lnTo>
                <a:lnTo>
                  <a:pt x="1438275" y="1133475"/>
                </a:lnTo>
                <a:lnTo>
                  <a:pt x="1447800" y="1133475"/>
                </a:lnTo>
                <a:lnTo>
                  <a:pt x="1447800" y="1133475"/>
                </a:lnTo>
                <a:lnTo>
                  <a:pt x="1457325" y="1133475"/>
                </a:lnTo>
                <a:lnTo>
                  <a:pt x="1466850" y="1133475"/>
                </a:lnTo>
                <a:lnTo>
                  <a:pt x="1466850" y="1133475"/>
                </a:lnTo>
                <a:lnTo>
                  <a:pt x="1476375" y="1133475"/>
                </a:lnTo>
                <a:lnTo>
                  <a:pt x="1485900" y="1133475"/>
                </a:lnTo>
                <a:lnTo>
                  <a:pt x="1485900" y="1143000"/>
                </a:lnTo>
                <a:lnTo>
                  <a:pt x="1495425" y="1143000"/>
                </a:lnTo>
                <a:lnTo>
                  <a:pt x="1495425" y="1143000"/>
                </a:lnTo>
                <a:lnTo>
                  <a:pt x="150495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E38359"/>
            </a:solidFill>
            <a:prstDash val="solid"/>
          </a:ln>
        </p:spPr>
      </p:sp>
      <p:sp>
        <p:nvSpPr>
          <p:cNvPr id="10" name="measured_spectrum_ylabel">
            <a:extLst xmlns:a="http://schemas.openxmlformats.org/drawingml/2006/main">
              <a:ext uri="{FF2B5EF4-FFF2-40B4-BE49-F238E27FC236}">
                <a16:creationId xmlns:a16="http://schemas.microsoft.com/office/drawing/2014/main" id="{3EBBCA3A-C4E8-4126-9E78-E7E044AF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1">
                <a:solidFill>
                  <a:srgbClr val="173153"/>
                </a:solidFill>
              </a:defRPr>
            </a:pPr>
            <a:r>
              <a:rPr sz="1425" b="0" i="1">
                <a:solidFill>
                  <a:srgbClr val="173153"/>
                </a:solidFill>
              </a:rPr>
              <a:t>I(λ)</a:t>
            </a:r>
          </a:p>
        </p:txBody>
      </p:sp>
      <p:sp>
        <p:nvSpPr>
          <p:cNvPr id="11" name="measured_spectrum_xlabel">
            <a:extLst xmlns:a="http://schemas.openxmlformats.org/drawingml/2006/main">
              <a:ext uri="{FF2B5EF4-FFF2-40B4-BE49-F238E27FC236}">
                <a16:creationId xmlns:a16="http://schemas.microsoft.com/office/drawing/2014/main" id="{A736D0C4-F7DE-447C-9999-118DE1E8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425" b="0" i="1">
                <a:solidFill>
                  <a:srgbClr val="173153"/>
                </a:solidFill>
              </a:defRPr>
            </a:pPr>
            <a:r>
              <a:rPr sz="1425" b="0" i="1">
                <a:solidFill>
                  <a:srgbClr val="173153"/>
                </a:solidFill>
              </a:rPr>
              <a:t>λ (nm)</a:t>
            </a:r>
          </a:p>
        </p:txBody>
      </p:sp>
      <p:sp>
        <p:nvSpPr>
          <p:cNvPr id="12" name="raw_split">
            <a:extLst xmlns:a="http://schemas.openxmlformats.org/drawingml/2006/main">
              <a:ext uri="{FF2B5EF4-FFF2-40B4-BE49-F238E27FC236}">
                <a16:creationId xmlns:a16="http://schemas.microsoft.com/office/drawing/2014/main" id="{94B146AA-68E6-4608-8232-21DE7821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85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73153"/>
            </a:solidFill>
            <a:prstDash val="solid"/>
          </a:ln>
        </p:spPr>
      </p:sp>
      <p:sp>
        <p:nvSpPr>
          <p:cNvPr id="13" name="raw_split_dot">
            <a:extLst xmlns:a="http://schemas.openxmlformats.org/drawingml/2006/main">
              <a:ext uri="{FF2B5EF4-FFF2-40B4-BE49-F238E27FC236}">
                <a16:creationId xmlns:a16="http://schemas.microsoft.com/office/drawing/2014/main" id="{9D274F1A-AC33-44C9-8F5C-09BB6A31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5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53"/>
          </a:solidFill>
          <a:ln xmlns:a="http://schemas.openxmlformats.org/drawingml/2006/main" w="0">
            <a:solidFill>
              <a:srgbClr val="173153"/>
            </a:solidFill>
            <a:prstDash val="solid"/>
          </a:ln>
        </p:spPr>
      </p:sp>
      <p:sp>
        <p:nvSpPr>
          <p:cNvPr id="14" name="shape_preparation">
            <a:extLst xmlns:a="http://schemas.openxmlformats.org/drawingml/2006/main">
              <a:ext uri="{FF2B5EF4-FFF2-40B4-BE49-F238E27FC236}">
                <a16:creationId xmlns:a16="http://schemas.microsoft.com/office/drawing/2014/main" id="{963A5CB7-6590-4C1C-8354-88018B06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76375"/>
            <a:ext cx="20002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7E2B8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5" name="shape_preparation_title">
            <a:extLst xmlns:a="http://schemas.openxmlformats.org/drawingml/2006/main">
              <a:ext uri="{FF2B5EF4-FFF2-40B4-BE49-F238E27FC236}">
                <a16:creationId xmlns:a16="http://schemas.microsoft.com/office/drawing/2014/main" id="{E17AED98-A37B-43A5-9E21-F702273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716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Shape preparation</a:t>
            </a:r>
          </a:p>
        </p:txBody>
      </p:sp>
      <p:sp>
        <p:nvSpPr>
          <p:cNvPr id="16" name="shape_preparation_row_1">
            <a:extLst xmlns:a="http://schemas.openxmlformats.org/drawingml/2006/main">
              <a:ext uri="{FF2B5EF4-FFF2-40B4-BE49-F238E27FC236}">
                <a16:creationId xmlns:a16="http://schemas.microsoft.com/office/drawing/2014/main" id="{784B7E7F-9805-4F11-9D2D-1CDFCE19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2405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Range · 520–680 nm</a:t>
            </a:r>
          </a:p>
        </p:txBody>
      </p:sp>
      <p:sp>
        <p:nvSpPr>
          <p:cNvPr id="17" name="shape_preparation_row_2">
            <a:extLst xmlns:a="http://schemas.openxmlformats.org/drawingml/2006/main">
              <a:ext uri="{FF2B5EF4-FFF2-40B4-BE49-F238E27FC236}">
                <a16:creationId xmlns:a16="http://schemas.microsoft.com/office/drawing/2014/main" id="{437E6CD9-86C0-45F7-807C-A050998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43125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Points · 256</a:t>
            </a:r>
          </a:p>
        </p:txBody>
      </p:sp>
      <p:sp>
        <p:nvSpPr>
          <p:cNvPr id="18" name="shape_preparation_row_3">
            <a:extLst xmlns:a="http://schemas.openxmlformats.org/drawingml/2006/main">
              <a:ext uri="{FF2B5EF4-FFF2-40B4-BE49-F238E27FC236}">
                <a16:creationId xmlns:a16="http://schemas.microsoft.com/office/drawing/2014/main" id="{F73EDFEB-DAB3-4545-AA8A-06964E2C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Map · log1p</a:t>
            </a:r>
          </a:p>
        </p:txBody>
      </p:sp>
      <p:sp>
        <p:nvSpPr>
          <p:cNvPr id="19" name="shape_preparation_row_4">
            <a:extLst xmlns:a="http://schemas.openxmlformats.org/drawingml/2006/main">
              <a:ext uri="{FF2B5EF4-FFF2-40B4-BE49-F238E27FC236}">
                <a16:creationId xmlns:a16="http://schemas.microsoft.com/office/drawing/2014/main" id="{50605ED7-A5D1-4094-9B33-06ED9865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81275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Scale · spectrum z</a:t>
            </a:r>
          </a:p>
        </p:txBody>
      </p:sp>
      <p:sp>
        <p:nvSpPr>
          <p:cNvPr id="50" name="feature_extraction">
            <a:extLst xmlns:a="http://schemas.openxmlformats.org/drawingml/2006/main">
              <a:ext uri="{FF2B5EF4-FFF2-40B4-BE49-F238E27FC236}">
                <a16:creationId xmlns:a16="http://schemas.microsoft.com/office/drawing/2014/main" id="{428163C3-F8B4-4E1A-ABF2-E3EDC0F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71875"/>
            <a:ext cx="3143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E5B2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51" name="feature_extraction_title">
            <a:extLst xmlns:a="http://schemas.openxmlformats.org/drawingml/2006/main">
              <a:ext uri="{FF2B5EF4-FFF2-40B4-BE49-F238E27FC236}">
                <a16:creationId xmlns:a16="http://schemas.microsoft.com/office/drawing/2014/main" id="{84EF133A-0615-4E9C-B054-CB66931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67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73153"/>
                </a:solidFill>
              </a:defRPr>
            </a:pPr>
            <a:r>
              <a:rPr sz="1575" b="1" i="0">
                <a:solidFill>
                  <a:srgbClr val="173153"/>
                </a:solidFill>
              </a:rPr>
              <a:t>Seven physical descriptors</a:t>
            </a:r>
          </a:p>
        </p:txBody>
      </p:sp>
      <p:sp>
        <p:nvSpPr>
          <p:cNvPr id="52" name="feature_extraction_row_1_label">
            <a:extLst xmlns:a="http://schemas.openxmlformats.org/drawingml/2006/main">
              <a:ext uri="{FF2B5EF4-FFF2-40B4-BE49-F238E27FC236}">
                <a16:creationId xmlns:a16="http://schemas.microsoft.com/office/drawing/2014/main" id="{53828D13-2163-4F11-ABC9-67A635B9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2907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Ratio</a:t>
            </a:r>
          </a:p>
        </p:txBody>
      </p:sp>
      <p:sp>
        <p:nvSpPr>
          <p:cNvPr id="53" name="feature_extraction_row_1_value">
            <a:extLst xmlns:a="http://schemas.openxmlformats.org/drawingml/2006/main">
              <a:ext uri="{FF2B5EF4-FFF2-40B4-BE49-F238E27FC236}">
                <a16:creationId xmlns:a16="http://schemas.microsoft.com/office/drawing/2014/main" id="{A2BA3F0D-0F51-495B-B537-22904AF6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29075"/>
            <a:ext cx="1914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log(I₅₈₀/I₆₁₀)</a:t>
            </a:r>
          </a:p>
        </p:txBody>
      </p:sp>
      <p:sp>
        <p:nvSpPr>
          <p:cNvPr id="54" name="feature_extraction_row_2_label">
            <a:extLst xmlns:a="http://schemas.openxmlformats.org/drawingml/2006/main">
              <a:ext uri="{FF2B5EF4-FFF2-40B4-BE49-F238E27FC236}">
                <a16:creationId xmlns:a16="http://schemas.microsoft.com/office/drawing/2014/main" id="{E5EBB9A5-8690-4F68-851F-39FF51DE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386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Points</a:t>
            </a:r>
          </a:p>
        </p:txBody>
      </p:sp>
      <p:sp>
        <p:nvSpPr>
          <p:cNvPr id="55" name="feature_extraction_row_2_value">
            <a:extLst xmlns:a="http://schemas.openxmlformats.org/drawingml/2006/main">
              <a:ext uri="{FF2B5EF4-FFF2-40B4-BE49-F238E27FC236}">
                <a16:creationId xmlns:a16="http://schemas.microsoft.com/office/drawing/2014/main" id="{2F56A64E-7BBD-433F-99D2-C7E3B864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38625"/>
            <a:ext cx="1914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log1p(I₅₈₀), log1p(I₆₁₀)</a:t>
            </a:r>
          </a:p>
        </p:txBody>
      </p:sp>
      <p:sp>
        <p:nvSpPr>
          <p:cNvPr id="56" name="feature_extraction_row_3_label">
            <a:extLst xmlns:a="http://schemas.openxmlformats.org/drawingml/2006/main">
              <a:ext uri="{FF2B5EF4-FFF2-40B4-BE49-F238E27FC236}">
                <a16:creationId xmlns:a16="http://schemas.microsoft.com/office/drawing/2014/main" id="{2EE429FE-E911-4331-875F-3E1C157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4817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Area</a:t>
            </a:r>
          </a:p>
        </p:txBody>
      </p:sp>
      <p:sp>
        <p:nvSpPr>
          <p:cNvPr id="57" name="feature_extraction_row_3_value">
            <a:extLst xmlns:a="http://schemas.openxmlformats.org/drawingml/2006/main">
              <a:ext uri="{FF2B5EF4-FFF2-40B4-BE49-F238E27FC236}">
                <a16:creationId xmlns:a16="http://schemas.microsoft.com/office/drawing/2014/main" id="{ADE7CBE1-FEF7-47DD-91CE-A66A9EA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448175"/>
            <a:ext cx="1914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log1p(∫I dλ)</a:t>
            </a:r>
          </a:p>
        </p:txBody>
      </p:sp>
      <p:sp>
        <p:nvSpPr>
          <p:cNvPr id="58" name="feature_extraction_row_4_label">
            <a:extLst xmlns:a="http://schemas.openxmlformats.org/drawingml/2006/main">
              <a:ext uri="{FF2B5EF4-FFF2-40B4-BE49-F238E27FC236}">
                <a16:creationId xmlns:a16="http://schemas.microsoft.com/office/drawing/2014/main" id="{DB794627-33C9-4767-916A-FDB795B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577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Max</a:t>
            </a:r>
          </a:p>
        </p:txBody>
      </p:sp>
      <p:sp>
        <p:nvSpPr>
          <p:cNvPr id="59" name="feature_extraction_row_4_value">
            <a:extLst xmlns:a="http://schemas.openxmlformats.org/drawingml/2006/main">
              <a:ext uri="{FF2B5EF4-FFF2-40B4-BE49-F238E27FC236}">
                <a16:creationId xmlns:a16="http://schemas.microsoft.com/office/drawing/2014/main" id="{549DD7E7-76C9-486A-AAE9-D95C729B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657725"/>
            <a:ext cx="1914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log1p(max(I))</a:t>
            </a:r>
          </a:p>
        </p:txBody>
      </p:sp>
      <p:sp>
        <p:nvSpPr>
          <p:cNvPr id="60" name="feature_extraction_row_5_label">
            <a:extLst xmlns:a="http://schemas.openxmlformats.org/drawingml/2006/main">
              <a:ext uri="{FF2B5EF4-FFF2-40B4-BE49-F238E27FC236}">
                <a16:creationId xmlns:a16="http://schemas.microsoft.com/office/drawing/2014/main" id="{7FE4A596-17CF-4A21-901F-F548D41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6727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Spread</a:t>
            </a:r>
          </a:p>
        </p:txBody>
      </p:sp>
      <p:sp>
        <p:nvSpPr>
          <p:cNvPr id="61" name="feature_extraction_row_5_value">
            <a:extLst xmlns:a="http://schemas.openxmlformats.org/drawingml/2006/main">
              <a:ext uri="{FF2B5EF4-FFF2-40B4-BE49-F238E27FC236}">
                <a16:creationId xmlns:a16="http://schemas.microsoft.com/office/drawing/2014/main" id="{B3683994-E54E-4D77-A7C6-4505CA1D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67275"/>
            <a:ext cx="1914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log1p(σ(I))</a:t>
            </a:r>
          </a:p>
        </p:txBody>
      </p:sp>
      <p:sp>
        <p:nvSpPr>
          <p:cNvPr id="62" name="feature_extraction_row_6_label">
            <a:extLst xmlns:a="http://schemas.openxmlformats.org/drawingml/2006/main">
              <a:ext uri="{FF2B5EF4-FFF2-40B4-BE49-F238E27FC236}">
                <a16:creationId xmlns:a16="http://schemas.microsoft.com/office/drawing/2014/main" id="{7117D39B-83A9-4DB6-AC39-BB45A7BE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768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Peak</a:t>
            </a:r>
          </a:p>
        </p:txBody>
      </p:sp>
      <p:sp>
        <p:nvSpPr>
          <p:cNvPr id="63" name="feature_extraction_row_6_value">
            <a:extLst xmlns:a="http://schemas.openxmlformats.org/drawingml/2006/main">
              <a:ext uri="{FF2B5EF4-FFF2-40B4-BE49-F238E27FC236}">
                <a16:creationId xmlns:a16="http://schemas.microsoft.com/office/drawing/2014/main" id="{47D10FA0-3A20-463C-AEA5-CD478390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076825"/>
            <a:ext cx="1914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λpeak</a:t>
            </a:r>
          </a:p>
        </p:txBody>
      </p:sp>
      <p:cxnSp>
        <p:nvCxnSpPr>
          <p:cNvPr id="952" name="raw_to_split"/>
          <p:cNvCxnSpPr>
            <a:stCxn xmlns:a="http://schemas.openxmlformats.org/drawingml/2006/main" id="5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2571750" y="21907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53" name="split_to_shape"/>
          <p:cNvCxnSpPr>
            <a:stCxn xmlns:a="http://schemas.openxmlformats.org/drawingml/2006/main" id="12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895600" y="21907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54" name="split_to_features"/>
          <p:cNvCxnSpPr>
            <a:stCxn xmlns:a="http://schemas.openxmlformats.org/drawingml/2006/main" id="12" idx="4"/>
            <a:endCxn xmlns:a="http://schemas.openxmlformats.org/drawingml/2006/main" id="50" idx="1"/>
          </p:cNvCxnSpPr>
          <p:nvPr/>
        </p:nvCxnSpPr>
        <p:spPr>
          <a:xfrm xmlns:a="http://schemas.openxmlformats.org/drawingml/2006/main" rot="16200000" flipH="1">
            <a:off x="1809750" y="3276599"/>
            <a:ext cx="2181225" cy="219075"/>
          </a:xfrm>
          <a:prstGeom xmlns:a="http://schemas.openxmlformats.org/drawingml/2006/main" prst="bentConnector2">
            <a:avLst/>
          </a:prstGeom>
          <a:ln xmlns:a="http://schemas.openxmlformats.org/drawingml/2006/main" w="24765">
            <a:solidFill>
              <a:srgbClr val="173153"/>
            </a:solidFill>
            <a:prstDash val="dash"/>
            <a:tailEnd type="arrow" w="sm" len="sm"/>
          </a:ln>
        </p:spPr>
      </p:cxnSp>
      <p:sp>
        <p:nvSpPr>
          <p:cNvPr id="90" name="panel_divider">
            <a:extLst xmlns:a="http://schemas.openxmlformats.org/drawingml/2006/main">
              <a:ext uri="{FF2B5EF4-FFF2-40B4-BE49-F238E27FC236}">
                <a16:creationId xmlns:a16="http://schemas.microsoft.com/office/drawing/2014/main" id="{DCC9094D-F784-4B91-8095-0D47822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19750"/>
            <a:ext cx="1470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8B4C6"/>
            </a:solidFill>
            <a:prstDash val="solid"/>
          </a:ln>
        </p:spPr>
      </p:sp>
      <p:sp>
        <p:nvSpPr>
          <p:cNvPr id="91" name="panel_b_label">
            <a:extLst xmlns:a="http://schemas.openxmlformats.org/drawingml/2006/main">
              <a:ext uri="{FF2B5EF4-FFF2-40B4-BE49-F238E27FC236}">
                <a16:creationId xmlns:a16="http://schemas.microsoft.com/office/drawing/2014/main" id="{28D0601C-3F92-4377-B20D-A3BBDDD3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10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3153"/>
                </a:solidFill>
              </a:defRPr>
            </a:pPr>
            <a:r>
              <a:rPr sz="2025" b="1" i="0">
                <a:solidFill>
                  <a:srgbClr val="173153"/>
                </a:solidFill>
              </a:rPr>
              <a:t>(b)</a:t>
            </a:r>
          </a:p>
        </p:txBody>
      </p:sp>
      <p:sp>
        <p:nvSpPr>
          <p:cNvPr id="92" name="panel_b_title">
            <a:extLst xmlns:a="http://schemas.openxmlformats.org/drawingml/2006/main">
              <a:ext uri="{FF2B5EF4-FFF2-40B4-BE49-F238E27FC236}">
                <a16:creationId xmlns:a16="http://schemas.microsoft.com/office/drawing/2014/main" id="{36FD4064-1783-4076-9E75-0A5D629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73153"/>
                </a:solidFill>
              </a:defRPr>
            </a:pPr>
            <a:r>
              <a:rPr sz="1875" b="1" i="0">
                <a:solidFill>
                  <a:srgbClr val="173153"/>
                </a:solidFill>
              </a:rPr>
              <a:t>Inside one Inception 1D block</a:t>
            </a:r>
          </a:p>
        </p:txBody>
      </p:sp>
      <p:sp>
        <p:nvSpPr>
          <p:cNvPr id="93" name="detail_input">
            <a:extLst xmlns:a="http://schemas.openxmlformats.org/drawingml/2006/main">
              <a:ext uri="{FF2B5EF4-FFF2-40B4-BE49-F238E27FC236}">
                <a16:creationId xmlns:a16="http://schemas.microsoft.com/office/drawing/2014/main" id="{B1C6F5AC-27AC-4A12-9CA1-1389EEC8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10668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B7CAE8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94" name="detail_input_title">
            <a:extLst xmlns:a="http://schemas.openxmlformats.org/drawingml/2006/main">
              <a:ext uri="{FF2B5EF4-FFF2-40B4-BE49-F238E27FC236}">
                <a16:creationId xmlns:a16="http://schemas.microsoft.com/office/drawing/2014/main" id="{9CDC9AD9-001C-4932-94B3-EC199C3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1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Input</a:t>
            </a:r>
          </a:p>
        </p:txBody>
      </p:sp>
      <p:sp>
        <p:nvSpPr>
          <p:cNvPr id="95" name="detail_input_body">
            <a:extLst xmlns:a="http://schemas.openxmlformats.org/drawingml/2006/main">
              <a:ext uri="{FF2B5EF4-FFF2-40B4-BE49-F238E27FC236}">
                <a16:creationId xmlns:a16="http://schemas.microsoft.com/office/drawing/2014/main" id="{650ACA57-84B9-4D6F-B376-E31C57D3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961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C × 256</a:t>
            </a:r>
          </a:p>
        </p:txBody>
      </p:sp>
      <p:sp>
        <p:nvSpPr>
          <p:cNvPr id="96" name="detail_input_fork">
            <a:extLst xmlns:a="http://schemas.openxmlformats.org/drawingml/2006/main">
              <a:ext uri="{FF2B5EF4-FFF2-40B4-BE49-F238E27FC236}">
                <a16:creationId xmlns:a16="http://schemas.microsoft.com/office/drawing/2014/main" id="{2EBEEEDC-7745-4A13-A96D-07597179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743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73153"/>
            </a:solidFill>
            <a:prstDash val="solid"/>
          </a:ln>
        </p:spPr>
      </p:sp>
      <p:sp>
        <p:nvSpPr>
          <p:cNvPr id="97" name="detail_input_fork_dot">
            <a:extLst xmlns:a="http://schemas.openxmlformats.org/drawingml/2006/main">
              <a:ext uri="{FF2B5EF4-FFF2-40B4-BE49-F238E27FC236}">
                <a16:creationId xmlns:a16="http://schemas.microsoft.com/office/drawing/2014/main" id="{52EDA2D8-1056-48BD-99C9-5F740D69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85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53"/>
          </a:solidFill>
          <a:ln xmlns:a="http://schemas.openxmlformats.org/drawingml/2006/main" w="0">
            <a:solidFill>
              <a:srgbClr val="173153"/>
            </a:solidFill>
            <a:prstDash val="solid"/>
          </a:ln>
        </p:spPr>
      </p:sp>
      <p:sp>
        <p:nvSpPr>
          <p:cNvPr id="98" name="detail_bottleneck">
            <a:extLst xmlns:a="http://schemas.openxmlformats.org/drawingml/2006/main">
              <a:ext uri="{FF2B5EF4-FFF2-40B4-BE49-F238E27FC236}">
                <a16:creationId xmlns:a16="http://schemas.microsoft.com/office/drawing/2014/main" id="{D51F5BCA-66BC-42DB-B50B-72F5028D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457950"/>
            <a:ext cx="14859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AFC4E5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99" name="detail_bottleneck_title">
            <a:extLst xmlns:a="http://schemas.openxmlformats.org/drawingml/2006/main">
              <a:ext uri="{FF2B5EF4-FFF2-40B4-BE49-F238E27FC236}">
                <a16:creationId xmlns:a16="http://schemas.microsoft.com/office/drawing/2014/main" id="{5C100C7E-5E89-4A3F-AD6E-406BA9A3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Bottleneck</a:t>
            </a:r>
          </a:p>
        </p:txBody>
      </p:sp>
      <p:sp>
        <p:nvSpPr>
          <p:cNvPr id="100" name="detail_bottleneck_body">
            <a:extLst xmlns:a="http://schemas.openxmlformats.org/drawingml/2006/main">
              <a:ext uri="{FF2B5EF4-FFF2-40B4-BE49-F238E27FC236}">
                <a16:creationId xmlns:a16="http://schemas.microsoft.com/office/drawing/2014/main" id="{2E5E3443-C717-47E7-B176-9F27BA10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8961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1×1 Conv · C→4</a:t>
            </a:r>
          </a:p>
        </p:txBody>
      </p:sp>
      <p:sp>
        <p:nvSpPr>
          <p:cNvPr id="101" name="detail_fork">
            <a:extLst xmlns:a="http://schemas.openxmlformats.org/drawingml/2006/main">
              <a:ext uri="{FF2B5EF4-FFF2-40B4-BE49-F238E27FC236}">
                <a16:creationId xmlns:a16="http://schemas.microsoft.com/office/drawing/2014/main" id="{F53378EC-3FF0-4ECD-A29D-F6C2A49F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743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73153"/>
            </a:solidFill>
            <a:prstDash val="solid"/>
          </a:ln>
        </p:spPr>
      </p:sp>
      <p:sp>
        <p:nvSpPr>
          <p:cNvPr id="102" name="detail_fork_dot">
            <a:extLst xmlns:a="http://schemas.openxmlformats.org/drawingml/2006/main">
              <a:ext uri="{FF2B5EF4-FFF2-40B4-BE49-F238E27FC236}">
                <a16:creationId xmlns:a16="http://schemas.microsoft.com/office/drawing/2014/main" id="{BD3C2CAC-4C99-49F1-A9FD-75740E7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85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53"/>
          </a:solidFill>
          <a:ln xmlns:a="http://schemas.openxmlformats.org/drawingml/2006/main" w="0">
            <a:solidFill>
              <a:srgbClr val="173153"/>
            </a:solidFill>
            <a:prstDash val="solid"/>
          </a:ln>
        </p:spPr>
      </p:sp>
      <p:sp>
        <p:nvSpPr>
          <p:cNvPr id="103" name="detail_branch_9">
            <a:extLst xmlns:a="http://schemas.openxmlformats.org/drawingml/2006/main">
              <a:ext uri="{FF2B5EF4-FFF2-40B4-BE49-F238E27FC236}">
                <a16:creationId xmlns:a16="http://schemas.microsoft.com/office/drawing/2014/main" id="{030E421A-265C-49F9-958E-8156E5B6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05500"/>
            <a:ext cx="22669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AFC4E5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04" name="detail_branch_9_title">
            <a:extLst xmlns:a="http://schemas.openxmlformats.org/drawingml/2006/main">
              <a:ext uri="{FF2B5EF4-FFF2-40B4-BE49-F238E27FC236}">
                <a16:creationId xmlns:a16="http://schemas.microsoft.com/office/drawing/2014/main" id="{6DAF4CED-21A5-4096-A15B-0C3B6407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000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Conv1D k=9 · 4 ch</a:t>
            </a:r>
          </a:p>
        </p:txBody>
      </p:sp>
      <p:sp>
        <p:nvSpPr>
          <p:cNvPr id="105" name="detail_branch_19">
            <a:extLst xmlns:a="http://schemas.openxmlformats.org/drawingml/2006/main">
              <a:ext uri="{FF2B5EF4-FFF2-40B4-BE49-F238E27FC236}">
                <a16:creationId xmlns:a16="http://schemas.microsoft.com/office/drawing/2014/main" id="{0BE73B5F-382A-454D-9799-97AF8102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38900"/>
            <a:ext cx="22669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AFC4E5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06" name="detail_branch_19_title">
            <a:extLst xmlns:a="http://schemas.openxmlformats.org/drawingml/2006/main">
              <a:ext uri="{FF2B5EF4-FFF2-40B4-BE49-F238E27FC236}">
                <a16:creationId xmlns:a16="http://schemas.microsoft.com/office/drawing/2014/main" id="{98A0C725-19B8-4BA7-A445-3770253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534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Conv1D k=19 · 4 ch</a:t>
            </a:r>
          </a:p>
        </p:txBody>
      </p:sp>
      <p:sp>
        <p:nvSpPr>
          <p:cNvPr id="107" name="detail_branch_39">
            <a:extLst xmlns:a="http://schemas.openxmlformats.org/drawingml/2006/main">
              <a:ext uri="{FF2B5EF4-FFF2-40B4-BE49-F238E27FC236}">
                <a16:creationId xmlns:a16="http://schemas.microsoft.com/office/drawing/2014/main" id="{29F04FBA-5713-46EF-AB41-C4BDFC0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972300"/>
            <a:ext cx="22669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AFC4E5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08" name="detail_branch_39_title">
            <a:extLst xmlns:a="http://schemas.openxmlformats.org/drawingml/2006/main">
              <a:ext uri="{FF2B5EF4-FFF2-40B4-BE49-F238E27FC236}">
                <a16:creationId xmlns:a16="http://schemas.microsoft.com/office/drawing/2014/main" id="{614F1517-2416-418E-9933-13A5B127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067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Conv1D k=39 · 4 ch</a:t>
            </a:r>
          </a:p>
        </p:txBody>
      </p:sp>
      <p:sp>
        <p:nvSpPr>
          <p:cNvPr id="109" name="detail_branch_pool">
            <a:extLst xmlns:a="http://schemas.openxmlformats.org/drawingml/2006/main">
              <a:ext uri="{FF2B5EF4-FFF2-40B4-BE49-F238E27FC236}">
                <a16:creationId xmlns:a16="http://schemas.microsoft.com/office/drawing/2014/main" id="{26631191-A82A-4A27-84FA-AB51A555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505700"/>
            <a:ext cx="22669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8E6CF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10" name="detail_branch_pool_title">
            <a:extLst xmlns:a="http://schemas.openxmlformats.org/drawingml/2006/main">
              <a:ext uri="{FF2B5EF4-FFF2-40B4-BE49-F238E27FC236}">
                <a16:creationId xmlns:a16="http://schemas.microsoft.com/office/drawing/2014/main" id="{AFCD03AA-8115-4D28-9968-6989518A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600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Pool + 1×1 Conv · 4 ch</a:t>
            </a:r>
          </a:p>
        </p:txBody>
      </p:sp>
      <p:sp>
        <p:nvSpPr>
          <p:cNvPr id="111" name="detail_merge">
            <a:extLst xmlns:a="http://schemas.openxmlformats.org/drawingml/2006/main">
              <a:ext uri="{FF2B5EF4-FFF2-40B4-BE49-F238E27FC236}">
                <a16:creationId xmlns:a16="http://schemas.microsoft.com/office/drawing/2014/main" id="{69123DC2-3EC6-4466-9FF1-639EC9CB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743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73153"/>
            </a:solidFill>
            <a:prstDash val="solid"/>
          </a:ln>
        </p:spPr>
      </p:sp>
      <p:sp>
        <p:nvSpPr>
          <p:cNvPr id="112" name="detail_merge_dot">
            <a:extLst xmlns:a="http://schemas.openxmlformats.org/drawingml/2006/main">
              <a:ext uri="{FF2B5EF4-FFF2-40B4-BE49-F238E27FC236}">
                <a16:creationId xmlns:a16="http://schemas.microsoft.com/office/drawing/2014/main" id="{D3A00489-E499-4513-A211-1F8BF41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5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53"/>
          </a:solidFill>
          <a:ln xmlns:a="http://schemas.openxmlformats.org/drawingml/2006/main" w="0">
            <a:solidFill>
              <a:srgbClr val="173153"/>
            </a:solidFill>
            <a:prstDash val="solid"/>
          </a:ln>
        </p:spPr>
      </p:sp>
      <p:sp>
        <p:nvSpPr>
          <p:cNvPr id="113" name="detail_concat">
            <a:extLst xmlns:a="http://schemas.openxmlformats.org/drawingml/2006/main">
              <a:ext uri="{FF2B5EF4-FFF2-40B4-BE49-F238E27FC236}">
                <a16:creationId xmlns:a16="http://schemas.microsoft.com/office/drawing/2014/main" id="{206086DD-AEE4-411F-BF09-D719AE2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457950"/>
            <a:ext cx="18097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D6CBE8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14" name="detail_concat_title">
            <a:extLst xmlns:a="http://schemas.openxmlformats.org/drawingml/2006/main">
              <a:ext uri="{FF2B5EF4-FFF2-40B4-BE49-F238E27FC236}">
                <a16:creationId xmlns:a16="http://schemas.microsoft.com/office/drawing/2014/main" id="{26F5BF0C-219B-454C-9E5E-B768DCA0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532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Concatenate</a:t>
            </a:r>
          </a:p>
        </p:txBody>
      </p:sp>
      <p:sp>
        <p:nvSpPr>
          <p:cNvPr id="115" name="detail_concat_body">
            <a:extLst xmlns:a="http://schemas.openxmlformats.org/drawingml/2006/main">
              <a:ext uri="{FF2B5EF4-FFF2-40B4-BE49-F238E27FC236}">
                <a16:creationId xmlns:a16="http://schemas.microsoft.com/office/drawing/2014/main" id="{82D85153-FCB2-49D5-A54D-A9708446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8961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4 × 4 ch = 16 ch</a:t>
            </a:r>
          </a:p>
        </p:txBody>
      </p:sp>
      <p:sp>
        <p:nvSpPr>
          <p:cNvPr id="116" name="detail_norm_activation">
            <a:extLst xmlns:a="http://schemas.openxmlformats.org/drawingml/2006/main">
              <a:ext uri="{FF2B5EF4-FFF2-40B4-BE49-F238E27FC236}">
                <a16:creationId xmlns:a16="http://schemas.microsoft.com/office/drawing/2014/main" id="{18A1B018-6843-46CE-A8F7-2BB420CA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15621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3DFF2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17" name="detail_norm_activation_title">
            <a:extLst xmlns:a="http://schemas.openxmlformats.org/drawingml/2006/main">
              <a:ext uri="{FF2B5EF4-FFF2-40B4-BE49-F238E27FC236}">
                <a16:creationId xmlns:a16="http://schemas.microsoft.com/office/drawing/2014/main" id="{57B70A10-BA9C-48D2-89C6-22A9D31E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532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GroupNorm</a:t>
            </a:r>
          </a:p>
        </p:txBody>
      </p:sp>
      <p:sp>
        <p:nvSpPr>
          <p:cNvPr id="118" name="detail_norm_activation_body">
            <a:extLst xmlns:a="http://schemas.openxmlformats.org/drawingml/2006/main">
              <a:ext uri="{FF2B5EF4-FFF2-40B4-BE49-F238E27FC236}">
                <a16:creationId xmlns:a16="http://schemas.microsoft.com/office/drawing/2014/main" id="{28C49674-42FE-4231-8E34-6B0012A8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896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+ SiLU</a:t>
            </a:r>
          </a:p>
        </p:txBody>
      </p:sp>
      <p:sp>
        <p:nvSpPr>
          <p:cNvPr id="119" name="detail_output">
            <a:extLst xmlns:a="http://schemas.openxmlformats.org/drawingml/2006/main">
              <a:ext uri="{FF2B5EF4-FFF2-40B4-BE49-F238E27FC236}">
                <a16:creationId xmlns:a16="http://schemas.microsoft.com/office/drawing/2014/main" id="{100D1A01-174B-4AE8-B92B-799A3D92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515100"/>
            <a:ext cx="12001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1B9BC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20" name="detail_output_title">
            <a:extLst xmlns:a="http://schemas.openxmlformats.org/drawingml/2006/main">
              <a:ext uri="{FF2B5EF4-FFF2-40B4-BE49-F238E27FC236}">
                <a16:creationId xmlns:a16="http://schemas.microsoft.com/office/drawing/2014/main" id="{18D8381D-1A09-4376-A8FB-AFD6079A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65913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Output</a:t>
            </a:r>
          </a:p>
        </p:txBody>
      </p:sp>
      <p:sp>
        <p:nvSpPr>
          <p:cNvPr id="121" name="detail_output_body">
            <a:extLst xmlns:a="http://schemas.openxmlformats.org/drawingml/2006/main">
              <a:ext uri="{FF2B5EF4-FFF2-40B4-BE49-F238E27FC236}">
                <a16:creationId xmlns:a16="http://schemas.microsoft.com/office/drawing/2014/main" id="{207A171F-4095-444D-B6CE-98D338A9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68961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16 × 256</a:t>
            </a:r>
          </a:p>
        </p:txBody>
      </p:sp>
      <p:cxnSp>
        <p:nvCxnSpPr>
          <p:cNvPr id="987" name="detail_input_to_input_fork"/>
          <p:cNvCxnSpPr>
            <a:stCxn xmlns:a="http://schemas.openxmlformats.org/drawingml/2006/main" id="93" idx="3"/>
            <a:endCxn xmlns:a="http://schemas.openxmlformats.org/drawingml/2006/main" id="96" idx="2"/>
          </p:cNvCxnSpPr>
          <p:nvPr/>
        </p:nvCxnSpPr>
        <p:spPr>
          <a:xfrm xmlns:a="http://schemas.openxmlformats.org/drawingml/2006/main" flipV="1">
            <a:off x="1790700" y="6896100"/>
            <a:ext cx="266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88" name="detail_input_fork_to_bottleneck"/>
          <p:cNvCxnSpPr>
            <a:stCxn xmlns:a="http://schemas.openxmlformats.org/drawingml/2006/main" id="96" idx="6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2362200" y="6896100"/>
            <a:ext cx="3619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89" name="detail_bottleneck_to_fork"/>
          <p:cNvCxnSpPr>
            <a:stCxn xmlns:a="http://schemas.openxmlformats.org/drawingml/2006/main" id="98" idx="3"/>
            <a:endCxn xmlns:a="http://schemas.openxmlformats.org/drawingml/2006/main" id="101" idx="2"/>
          </p:cNvCxnSpPr>
          <p:nvPr/>
        </p:nvCxnSpPr>
        <p:spPr>
          <a:xfrm xmlns:a="http://schemas.openxmlformats.org/drawingml/2006/main" flipV="1">
            <a:off x="4210050" y="689610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0" name="detail_fork_to_branch_1"/>
          <p:cNvCxnSpPr>
            <a:stCxn xmlns:a="http://schemas.openxmlformats.org/drawingml/2006/main" id="101" idx="6"/>
            <a:endCxn xmlns:a="http://schemas.openxmlformats.org/drawingml/2006/main" id="103" idx="1"/>
          </p:cNvCxnSpPr>
          <p:nvPr/>
        </p:nvCxnSpPr>
        <p:spPr>
          <a:xfrm xmlns:a="http://schemas.openxmlformats.org/drawingml/2006/main" flipV="1">
            <a:off x="4895850" y="6134100"/>
            <a:ext cx="3429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1" name="detail_branch_to_merge_1"/>
          <p:cNvCxnSpPr>
            <a:stCxn xmlns:a="http://schemas.openxmlformats.org/drawingml/2006/main" id="103" idx="3"/>
            <a:endCxn xmlns:a="http://schemas.openxmlformats.org/drawingml/2006/main" id="111" idx="2"/>
          </p:cNvCxnSpPr>
          <p:nvPr/>
        </p:nvCxnSpPr>
        <p:spPr>
          <a:xfrm xmlns:a="http://schemas.openxmlformats.org/drawingml/2006/main">
            <a:off x="7505700" y="6134100"/>
            <a:ext cx="47625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2" name="detail_fork_to_branch_2"/>
          <p:cNvCxnSpPr>
            <a:stCxn xmlns:a="http://schemas.openxmlformats.org/drawingml/2006/main" id="101" idx="6"/>
            <a:endCxn xmlns:a="http://schemas.openxmlformats.org/drawingml/2006/main" id="105" idx="1"/>
          </p:cNvCxnSpPr>
          <p:nvPr/>
        </p:nvCxnSpPr>
        <p:spPr>
          <a:xfrm xmlns:a="http://schemas.openxmlformats.org/drawingml/2006/main" flipV="1">
            <a:off x="4895850" y="6667500"/>
            <a:ext cx="342900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3" name="detail_branch_to_merge_2"/>
          <p:cNvCxnSpPr>
            <a:stCxn xmlns:a="http://schemas.openxmlformats.org/drawingml/2006/main" id="105" idx="3"/>
            <a:endCxn xmlns:a="http://schemas.openxmlformats.org/drawingml/2006/main" id="111" idx="2"/>
          </p:cNvCxnSpPr>
          <p:nvPr/>
        </p:nvCxnSpPr>
        <p:spPr>
          <a:xfrm xmlns:a="http://schemas.openxmlformats.org/drawingml/2006/main">
            <a:off x="7505700" y="6667500"/>
            <a:ext cx="476250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4" name="detail_fork_to_branch_3"/>
          <p:cNvCxnSpPr>
            <a:stCxn xmlns:a="http://schemas.openxmlformats.org/drawingml/2006/main" id="101" idx="6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4895850" y="6896100"/>
            <a:ext cx="34290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5" name="detail_branch_to_merge_3"/>
          <p:cNvCxnSpPr>
            <a:stCxn xmlns:a="http://schemas.openxmlformats.org/drawingml/2006/main" id="107" idx="3"/>
            <a:endCxn xmlns:a="http://schemas.openxmlformats.org/drawingml/2006/main" id="111" idx="2"/>
          </p:cNvCxnSpPr>
          <p:nvPr/>
        </p:nvCxnSpPr>
        <p:spPr>
          <a:xfrm xmlns:a="http://schemas.openxmlformats.org/drawingml/2006/main" flipV="1">
            <a:off x="7505700" y="6896100"/>
            <a:ext cx="47625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6" name="detail_input_to_pool_branch"/>
          <p:cNvCxnSpPr>
            <a:stCxn xmlns:a="http://schemas.openxmlformats.org/drawingml/2006/main" id="96" idx="4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2209800" y="7048500"/>
            <a:ext cx="3028950" cy="685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7" name="detail_pool_to_merge"/>
          <p:cNvCxnSpPr>
            <a:stCxn xmlns:a="http://schemas.openxmlformats.org/drawingml/2006/main" id="109" idx="3"/>
            <a:endCxn xmlns:a="http://schemas.openxmlformats.org/drawingml/2006/main" id="111" idx="2"/>
          </p:cNvCxnSpPr>
          <p:nvPr/>
        </p:nvCxnSpPr>
        <p:spPr>
          <a:xfrm xmlns:a="http://schemas.openxmlformats.org/drawingml/2006/main" flipV="1">
            <a:off x="7505700" y="6896100"/>
            <a:ext cx="476250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8" name="detail_merge_to_concat"/>
          <p:cNvCxnSpPr>
            <a:stCxn xmlns:a="http://schemas.openxmlformats.org/drawingml/2006/main" id="111" idx="6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8286750" y="6896100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999" name="detail_concat_to_norm"/>
          <p:cNvCxnSpPr>
            <a:stCxn xmlns:a="http://schemas.openxmlformats.org/drawingml/2006/main" id="113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10610850" y="69056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000" name="detail_norm_to_output"/>
          <p:cNvCxnSpPr>
            <a:stCxn xmlns:a="http://schemas.openxmlformats.org/drawingml/2006/main" id="116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12706350" y="69056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73153"/>
            </a:solidFill>
            <a:prstDash val="solid"/>
            <a:tailEnd type="arrow" w="sm" len="sm"/>
          </a:ln>
        </p:spPr>
      </p:cxnSp>
      <p:sp>
        <p:nvSpPr>
          <p:cNvPr id="578" name="v6_shape_tensor_sheet_1">
            <a:extLst xmlns:a="http://schemas.openxmlformats.org/drawingml/2006/main">
              <a:ext uri="{FF2B5EF4-FFF2-40B4-BE49-F238E27FC236}">
                <a16:creationId xmlns:a16="http://schemas.microsoft.com/office/drawing/2014/main" id="{D852F37E-A4DB-41B9-AFC9-35D009F9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4307"/>
            <a:ext cx="838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B2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79" name="v6_shape_tensor_title">
            <a:extLst xmlns:a="http://schemas.openxmlformats.org/drawingml/2006/main">
              <a:ext uri="{FF2B5EF4-FFF2-40B4-BE49-F238E27FC236}">
                <a16:creationId xmlns:a16="http://schemas.microsoft.com/office/drawing/2014/main" id="{010AE9FE-3DF4-4379-AFA3-5EA159D2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38287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Input spectrum</a:t>
            </a:r>
          </a:p>
        </p:txBody>
      </p:sp>
      <p:sp>
        <p:nvSpPr>
          <p:cNvPr id="580" name="v6_shape_tensor_dimension">
            <a:extLst xmlns:a="http://schemas.openxmlformats.org/drawingml/2006/main">
              <a:ext uri="{FF2B5EF4-FFF2-40B4-BE49-F238E27FC236}">
                <a16:creationId xmlns:a16="http://schemas.microsoft.com/office/drawing/2014/main" id="{4597DD0E-0516-4F97-B457-2E3F2A87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725" y="259183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1 channel × 256 positions</a:t>
            </a:r>
          </a:p>
        </p:txBody>
      </p:sp>
      <p:sp>
        <p:nvSpPr>
          <p:cNvPr id="581" name="v6_block1_tensor_sheet_4">
            <a:extLst xmlns:a="http://schemas.openxmlformats.org/drawingml/2006/main">
              <a:ext uri="{FF2B5EF4-FFF2-40B4-BE49-F238E27FC236}">
                <a16:creationId xmlns:a16="http://schemas.microsoft.com/office/drawing/2014/main" id="{48D42E42-049E-4E58-84AE-60631B04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75399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F4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82" name="v6_block1_tensor_sheet_3">
            <a:extLst xmlns:a="http://schemas.openxmlformats.org/drawingml/2006/main">
              <a:ext uri="{FF2B5EF4-FFF2-40B4-BE49-F238E27FC236}">
                <a16:creationId xmlns:a16="http://schemas.microsoft.com/office/drawing/2014/main" id="{8705B70A-8666-4AE0-9D3C-6A4EE7DA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023024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2F3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83" name="v6_block1_tensor_sheet_2">
            <a:extLst xmlns:a="http://schemas.openxmlformats.org/drawingml/2006/main">
              <a:ext uri="{FF2B5EF4-FFF2-40B4-BE49-F238E27FC236}">
                <a16:creationId xmlns:a16="http://schemas.microsoft.com/office/drawing/2014/main" id="{2EB8C2F8-7732-48A3-85B5-CA92589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0649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1F3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84" name="v6_block1_tensor_sheet_1">
            <a:extLst xmlns:a="http://schemas.openxmlformats.org/drawingml/2006/main">
              <a:ext uri="{FF2B5EF4-FFF2-40B4-BE49-F238E27FC236}">
                <a16:creationId xmlns:a16="http://schemas.microsoft.com/office/drawing/2014/main" id="{002A4A3E-78C3-4830-BEBB-731E3122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18274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FF2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85" name="v6_block1_tensor_title">
            <a:extLst xmlns:a="http://schemas.openxmlformats.org/drawingml/2006/main">
              <a:ext uri="{FF2B5EF4-FFF2-40B4-BE49-F238E27FC236}">
                <a16:creationId xmlns:a16="http://schemas.microsoft.com/office/drawing/2014/main" id="{02296F7F-3CB3-4A02-A310-CFC89DE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332" y="1708698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Inception block 1</a:t>
            </a:r>
          </a:p>
        </p:txBody>
      </p:sp>
      <p:sp>
        <p:nvSpPr>
          <p:cNvPr id="586" name="v6_block1_tensor_dimension">
            <a:extLst xmlns:a="http://schemas.openxmlformats.org/drawingml/2006/main">
              <a:ext uri="{FF2B5EF4-FFF2-40B4-BE49-F238E27FC236}">
                <a16:creationId xmlns:a16="http://schemas.microsoft.com/office/drawing/2014/main" id="{BEAB45C7-5512-4639-9B0D-0A1C6DFE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75474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16 channels × 256 positions</a:t>
            </a:r>
          </a:p>
        </p:txBody>
      </p:sp>
      <p:sp>
        <p:nvSpPr>
          <p:cNvPr id="587" name="v6_block2_tensor_sheet_4">
            <a:extLst xmlns:a="http://schemas.openxmlformats.org/drawingml/2006/main">
              <a:ext uri="{FF2B5EF4-FFF2-40B4-BE49-F238E27FC236}">
                <a16:creationId xmlns:a16="http://schemas.microsoft.com/office/drawing/2014/main" id="{DE816593-D7DB-4700-81E9-2F89551B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75399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4F4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88" name="v6_block2_tensor_sheet_3">
            <a:extLst xmlns:a="http://schemas.openxmlformats.org/drawingml/2006/main">
              <a:ext uri="{FF2B5EF4-FFF2-40B4-BE49-F238E27FC236}">
                <a16:creationId xmlns:a16="http://schemas.microsoft.com/office/drawing/2014/main" id="{BAE64D90-BB49-4FC9-8117-197BD2A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23024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2F3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89" name="v6_block2_tensor_sheet_2">
            <a:extLst xmlns:a="http://schemas.openxmlformats.org/drawingml/2006/main">
              <a:ext uri="{FF2B5EF4-FFF2-40B4-BE49-F238E27FC236}">
                <a16:creationId xmlns:a16="http://schemas.microsoft.com/office/drawing/2014/main" id="{C901DBF9-BF57-43BE-A536-EE613E6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70649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1F3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90" name="v6_block2_tensor_sheet_1">
            <a:extLst xmlns:a="http://schemas.openxmlformats.org/drawingml/2006/main">
              <a:ext uri="{FF2B5EF4-FFF2-40B4-BE49-F238E27FC236}">
                <a16:creationId xmlns:a16="http://schemas.microsoft.com/office/drawing/2014/main" id="{32997E04-D07F-4775-9632-6345085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8274"/>
            <a:ext cx="838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FF2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591" name="v6_block2_tensor_title">
            <a:extLst xmlns:a="http://schemas.openxmlformats.org/drawingml/2006/main">
              <a:ext uri="{FF2B5EF4-FFF2-40B4-BE49-F238E27FC236}">
                <a16:creationId xmlns:a16="http://schemas.microsoft.com/office/drawing/2014/main" id="{39AAB0E3-7BC2-4F25-9D88-D7BA5FB5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7" y="1691304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Inception block 2</a:t>
            </a:r>
          </a:p>
        </p:txBody>
      </p:sp>
      <p:sp>
        <p:nvSpPr>
          <p:cNvPr id="592" name="v6_block2_tensor_dimension">
            <a:extLst xmlns:a="http://schemas.openxmlformats.org/drawingml/2006/main">
              <a:ext uri="{FF2B5EF4-FFF2-40B4-BE49-F238E27FC236}">
                <a16:creationId xmlns:a16="http://schemas.microsoft.com/office/drawing/2014/main" id="{DD918DFE-EBD9-4A14-AD60-375D3A2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5474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16 channels × 256 positions</a:t>
            </a:r>
          </a:p>
        </p:txBody>
      </p:sp>
      <p:sp>
        <p:nvSpPr>
          <p:cNvPr id="593" name="v6_residual_add">
            <a:extLst xmlns:a="http://schemas.openxmlformats.org/drawingml/2006/main">
              <a:ext uri="{FF2B5EF4-FFF2-40B4-BE49-F238E27FC236}">
                <a16:creationId xmlns:a16="http://schemas.microsoft.com/office/drawing/2014/main" id="{95656771-4BD3-4F18-A22F-12350B80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08749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173153"/>
            </a:solidFill>
            <a:prstDash val="solid"/>
          </a:ln>
        </p:spPr>
      </p:sp>
      <p:sp>
        <p:nvSpPr>
          <p:cNvPr id="594" name="v6_residual_add_h">
            <a:extLst xmlns:a="http://schemas.openxmlformats.org/drawingml/2006/main">
              <a:ext uri="{FF2B5EF4-FFF2-40B4-BE49-F238E27FC236}">
                <a16:creationId xmlns:a16="http://schemas.microsoft.com/office/drawing/2014/main" id="{9855B465-BF32-4390-8EEF-2470850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99249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73153"/>
            </a:solidFill>
            <a:prstDash val="solid"/>
          </a:ln>
        </p:spPr>
      </p:sp>
      <p:sp>
        <p:nvSpPr>
          <p:cNvPr id="595" name="v6_residual_add_v">
            <a:extLst xmlns:a="http://schemas.openxmlformats.org/drawingml/2006/main">
              <a:ext uri="{FF2B5EF4-FFF2-40B4-BE49-F238E27FC236}">
                <a16:creationId xmlns:a16="http://schemas.microsoft.com/office/drawing/2014/main" id="{3FD2F113-554C-47D5-9BC6-83CCEDF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32574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73153"/>
            </a:solidFill>
            <a:prstDash val="solid"/>
          </a:ln>
        </p:spPr>
      </p:sp>
      <p:sp>
        <p:nvSpPr>
          <p:cNvPr id="596" name="v6_pool_mean_outer">
            <a:extLst xmlns:a="http://schemas.openxmlformats.org/drawingml/2006/main">
              <a:ext uri="{FF2B5EF4-FFF2-40B4-BE49-F238E27FC236}">
                <a16:creationId xmlns:a16="http://schemas.microsoft.com/office/drawing/2014/main" id="{DF62E6E5-7C8F-4487-8B39-5322FDB7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6349"/>
            <a:ext cx="5334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597" name="v6_pool_mean_cell_1">
            <a:extLst xmlns:a="http://schemas.openxmlformats.org/drawingml/2006/main">
              <a:ext uri="{FF2B5EF4-FFF2-40B4-BE49-F238E27FC236}">
                <a16:creationId xmlns:a16="http://schemas.microsoft.com/office/drawing/2014/main" id="{6D3DEE0C-90B3-41C2-8A58-218B8F8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753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598" name="v6_pool_mean_cell_2">
            <a:extLst xmlns:a="http://schemas.openxmlformats.org/drawingml/2006/main">
              <a:ext uri="{FF2B5EF4-FFF2-40B4-BE49-F238E27FC236}">
                <a16:creationId xmlns:a16="http://schemas.microsoft.com/office/drawing/2014/main" id="{9B2D1A7D-2D1B-4516-8676-8EED31D7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753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599" name="v6_pool_mean_cell_3">
            <a:extLst xmlns:a="http://schemas.openxmlformats.org/drawingml/2006/main">
              <a:ext uri="{FF2B5EF4-FFF2-40B4-BE49-F238E27FC236}">
                <a16:creationId xmlns:a16="http://schemas.microsoft.com/office/drawing/2014/main" id="{8B4399F9-A2DD-4C6E-96EF-FCC54212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753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00" name="v6_pool_mean_cell_4">
            <a:extLst xmlns:a="http://schemas.openxmlformats.org/drawingml/2006/main">
              <a:ext uri="{FF2B5EF4-FFF2-40B4-BE49-F238E27FC236}">
                <a16:creationId xmlns:a16="http://schemas.microsoft.com/office/drawing/2014/main" id="{9C3FB03A-C051-40EC-9979-AEFD3457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753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01" name="v6_pool_mean_title">
            <a:extLst xmlns:a="http://schemas.openxmlformats.org/drawingml/2006/main">
              <a:ext uri="{FF2B5EF4-FFF2-40B4-BE49-F238E27FC236}">
                <a16:creationId xmlns:a16="http://schemas.microsoft.com/office/drawing/2014/main" id="{057875FD-AD3A-4A06-A15C-886E4F89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11388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Global pooling</a:t>
            </a:r>
          </a:p>
        </p:txBody>
      </p:sp>
      <p:sp>
        <p:nvSpPr>
          <p:cNvPr id="602" name="v6_pool_mean_dimension">
            <a:extLst xmlns:a="http://schemas.openxmlformats.org/drawingml/2006/main">
              <a:ext uri="{FF2B5EF4-FFF2-40B4-BE49-F238E27FC236}">
                <a16:creationId xmlns:a16="http://schemas.microsoft.com/office/drawing/2014/main" id="{808E4418-6E36-447B-8033-A5E14119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34218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627087"/>
                </a:solidFill>
              </a:defRPr>
            </a:pPr>
            <a:r>
              <a:rPr sz="1013" b="1" i="0">
                <a:solidFill>
                  <a:srgbClr val="627087"/>
                </a:solidFill>
              </a:rPr>
              <a:t>mean 16-D</a:t>
            </a:r>
          </a:p>
        </p:txBody>
      </p:sp>
      <p:sp>
        <p:nvSpPr>
          <p:cNvPr id="603" name="v6_pool_max_outer">
            <a:extLst xmlns:a="http://schemas.openxmlformats.org/drawingml/2006/main">
              <a:ext uri="{FF2B5EF4-FFF2-40B4-BE49-F238E27FC236}">
                <a16:creationId xmlns:a16="http://schemas.microsoft.com/office/drawing/2014/main" id="{240D019C-7F24-49DF-B461-AD3B6522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75449"/>
            <a:ext cx="5334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04" name="v6_pool_max_cell_1">
            <a:extLst xmlns:a="http://schemas.openxmlformats.org/drawingml/2006/main">
              <a:ext uri="{FF2B5EF4-FFF2-40B4-BE49-F238E27FC236}">
                <a16:creationId xmlns:a16="http://schemas.microsoft.com/office/drawing/2014/main" id="{0123676B-4908-49E0-B492-7A0A5642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944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D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05" name="v6_pool_max_cell_2">
            <a:extLst xmlns:a="http://schemas.openxmlformats.org/drawingml/2006/main">
              <a:ext uri="{FF2B5EF4-FFF2-40B4-BE49-F238E27FC236}">
                <a16:creationId xmlns:a16="http://schemas.microsoft.com/office/drawing/2014/main" id="{02524879-28A7-460D-B3E4-E44388EB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944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D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06" name="v6_pool_max_cell_3">
            <a:extLst xmlns:a="http://schemas.openxmlformats.org/drawingml/2006/main">
              <a:ext uri="{FF2B5EF4-FFF2-40B4-BE49-F238E27FC236}">
                <a16:creationId xmlns:a16="http://schemas.microsoft.com/office/drawing/2014/main" id="{71235ED6-4E71-4C4A-8528-BFFCCE4C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944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D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07" name="v6_pool_max_cell_4">
            <a:extLst xmlns:a="http://schemas.openxmlformats.org/drawingml/2006/main">
              <a:ext uri="{FF2B5EF4-FFF2-40B4-BE49-F238E27FC236}">
                <a16:creationId xmlns:a16="http://schemas.microsoft.com/office/drawing/2014/main" id="{FCD0973C-E982-4E34-AC57-19AD0E7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94499"/>
            <a:ext cx="1266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D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08" name="v6_pool_max_title">
            <a:extLst xmlns:a="http://schemas.openxmlformats.org/drawingml/2006/main">
              <a:ext uri="{FF2B5EF4-FFF2-40B4-BE49-F238E27FC236}">
                <a16:creationId xmlns:a16="http://schemas.microsoft.com/office/drawing/2014/main" id="{0ABE8293-839F-4D43-BE7D-3893AB67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318174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9" name="v6_pool_max_dimension">
            <a:extLst xmlns:a="http://schemas.openxmlformats.org/drawingml/2006/main">
              <a:ext uri="{FF2B5EF4-FFF2-40B4-BE49-F238E27FC236}">
                <a16:creationId xmlns:a16="http://schemas.microsoft.com/office/drawing/2014/main" id="{D8F8911F-ED18-475E-B998-34E73DA4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790" y="2572367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627087"/>
                </a:solidFill>
              </a:defRPr>
            </a:pPr>
            <a:r>
              <a:rPr sz="1013" b="1" i="0">
                <a:solidFill>
                  <a:srgbClr val="627087"/>
                </a:solidFill>
              </a:rPr>
              <a:t>max 16-D</a:t>
            </a:r>
          </a:p>
        </p:txBody>
      </p:sp>
      <p:sp>
        <p:nvSpPr>
          <p:cNvPr id="610" name="v6_spectral_32d_outer">
            <a:extLst xmlns:a="http://schemas.openxmlformats.org/drawingml/2006/main">
              <a:ext uri="{FF2B5EF4-FFF2-40B4-BE49-F238E27FC236}">
                <a16:creationId xmlns:a16="http://schemas.microsoft.com/office/drawing/2014/main" id="{ABC30D9F-60AA-4CCB-AE21-39FFCB36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27799"/>
            <a:ext cx="78105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11" name="v6_spectral_32d_cell_1">
            <a:extLst xmlns:a="http://schemas.openxmlformats.org/drawingml/2006/main">
              <a:ext uri="{FF2B5EF4-FFF2-40B4-BE49-F238E27FC236}">
                <a16:creationId xmlns:a16="http://schemas.microsoft.com/office/drawing/2014/main" id="{4C9713C6-DCB4-4701-BF56-06B0322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2" name="v6_spectral_32d_cell_2">
            <a:extLst xmlns:a="http://schemas.openxmlformats.org/drawingml/2006/main">
              <a:ext uri="{FF2B5EF4-FFF2-40B4-BE49-F238E27FC236}">
                <a16:creationId xmlns:a16="http://schemas.microsoft.com/office/drawing/2014/main" id="{EBF820FC-904A-4421-8F5E-ED61512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469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3" name="v6_spectral_32d_cell_3">
            <a:extLst xmlns:a="http://schemas.openxmlformats.org/drawingml/2006/main">
              <a:ext uri="{FF2B5EF4-FFF2-40B4-BE49-F238E27FC236}">
                <a16:creationId xmlns:a16="http://schemas.microsoft.com/office/drawing/2014/main" id="{B2869655-AF70-49DA-A509-5A62BA22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4" name="v6_spectral_32d_cell_4">
            <a:extLst xmlns:a="http://schemas.openxmlformats.org/drawingml/2006/main">
              <a:ext uri="{FF2B5EF4-FFF2-40B4-BE49-F238E27FC236}">
                <a16:creationId xmlns:a16="http://schemas.microsoft.com/office/drawing/2014/main" id="{061F4325-646F-47CD-8999-F6F3AEB7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4206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5" name="v6_spectral_32d_cell_5">
            <a:extLst xmlns:a="http://schemas.openxmlformats.org/drawingml/2006/main">
              <a:ext uri="{FF2B5EF4-FFF2-40B4-BE49-F238E27FC236}">
                <a16:creationId xmlns:a16="http://schemas.microsoft.com/office/drawing/2014/main" id="{A6FE714C-F7E2-4CF9-AE6A-D0691BDB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6" name="v6_spectral_32d_cell_6">
            <a:extLst xmlns:a="http://schemas.openxmlformats.org/drawingml/2006/main">
              <a:ext uri="{FF2B5EF4-FFF2-40B4-BE49-F238E27FC236}">
                <a16:creationId xmlns:a16="http://schemas.microsoft.com/office/drawing/2014/main" id="{9A621CF7-BF57-4746-87FC-A94DDACD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944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7" name="v6_spectral_32d_cell_7">
            <a:extLst xmlns:a="http://schemas.openxmlformats.org/drawingml/2006/main">
              <a:ext uri="{FF2B5EF4-FFF2-40B4-BE49-F238E27FC236}">
                <a16:creationId xmlns:a16="http://schemas.microsoft.com/office/drawing/2014/main" id="{0EECC5CF-F26F-48C2-A429-CB44A8BC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8" name="v6_spectral_32d_cell_8">
            <a:extLst xmlns:a="http://schemas.openxmlformats.org/drawingml/2006/main">
              <a:ext uri="{FF2B5EF4-FFF2-40B4-BE49-F238E27FC236}">
                <a16:creationId xmlns:a16="http://schemas.microsoft.com/office/drawing/2014/main" id="{10A48E33-E5FD-4CFB-9BC2-F95373A7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681" y="2146849"/>
            <a:ext cx="9572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19" name="v6_spectral_32d_title">
            <a:extLst xmlns:a="http://schemas.openxmlformats.org/drawingml/2006/main">
              <a:ext uri="{FF2B5EF4-FFF2-40B4-BE49-F238E27FC236}">
                <a16:creationId xmlns:a16="http://schemas.microsoft.com/office/drawing/2014/main" id="{33CF7280-9A2B-49FE-AC4F-28BF3DB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82838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Concatenate</a:t>
            </a:r>
          </a:p>
        </p:txBody>
      </p:sp>
      <p:sp>
        <p:nvSpPr>
          <p:cNvPr id="620" name="v6_spectral_32d_dimension">
            <a:extLst xmlns:a="http://schemas.openxmlformats.org/drawingml/2006/main">
              <a:ext uri="{FF2B5EF4-FFF2-40B4-BE49-F238E27FC236}">
                <a16:creationId xmlns:a16="http://schemas.microsoft.com/office/drawing/2014/main" id="{3B8C08EF-FF4F-424D-B259-591DB91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80224"/>
            <a:ext cx="125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32-D spectral</a:t>
            </a:r>
          </a:p>
        </p:txBody>
      </p:sp>
      <p:sp>
        <p:nvSpPr>
          <p:cNvPr id="621" name="v6_fused_40d_outer">
            <a:extLst xmlns:a="http://schemas.openxmlformats.org/drawingml/2006/main">
              <a:ext uri="{FF2B5EF4-FFF2-40B4-BE49-F238E27FC236}">
                <a16:creationId xmlns:a16="http://schemas.microsoft.com/office/drawing/2014/main" id="{352FD117-7D8C-4C16-BD4C-719B8CDC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127799"/>
            <a:ext cx="9906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22" name="v6_fused_40d_cell_1">
            <a:extLst xmlns:a="http://schemas.openxmlformats.org/drawingml/2006/main">
              <a:ext uri="{FF2B5EF4-FFF2-40B4-BE49-F238E27FC236}">
                <a16:creationId xmlns:a16="http://schemas.microsoft.com/office/drawing/2014/main" id="{044BCD3A-232F-4802-8BA2-4BD8DFE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23" name="v6_fused_40d_cell_2">
            <a:extLst xmlns:a="http://schemas.openxmlformats.org/drawingml/2006/main">
              <a:ext uri="{FF2B5EF4-FFF2-40B4-BE49-F238E27FC236}">
                <a16:creationId xmlns:a16="http://schemas.microsoft.com/office/drawing/2014/main" id="{846727B9-60D8-468E-8942-57A2C8A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24" name="v6_fused_40d_cell_3">
            <a:extLst xmlns:a="http://schemas.openxmlformats.org/drawingml/2006/main">
              <a:ext uri="{FF2B5EF4-FFF2-40B4-BE49-F238E27FC236}">
                <a16:creationId xmlns:a16="http://schemas.microsoft.com/office/drawing/2014/main" id="{D676DD52-CB7E-4822-BC14-FB559A2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25" name="v6_fused_40d_cell_4">
            <a:extLst xmlns:a="http://schemas.openxmlformats.org/drawingml/2006/main">
              <a:ext uri="{FF2B5EF4-FFF2-40B4-BE49-F238E27FC236}">
                <a16:creationId xmlns:a16="http://schemas.microsoft.com/office/drawing/2014/main" id="{370631EE-7BA2-485B-8591-488D9BB6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26" name="v6_fused_40d_cell_5">
            <a:extLst xmlns:a="http://schemas.openxmlformats.org/drawingml/2006/main">
              <a:ext uri="{FF2B5EF4-FFF2-40B4-BE49-F238E27FC236}">
                <a16:creationId xmlns:a16="http://schemas.microsoft.com/office/drawing/2014/main" id="{05997719-6C2F-4B5E-BDEC-DE55973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27" name="v6_fused_40d_cell_6">
            <a:extLst xmlns:a="http://schemas.openxmlformats.org/drawingml/2006/main">
              <a:ext uri="{FF2B5EF4-FFF2-40B4-BE49-F238E27FC236}">
                <a16:creationId xmlns:a16="http://schemas.microsoft.com/office/drawing/2014/main" id="{6AF3F7BC-245F-4C28-BF0F-FDA12AE2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28" name="v6_fused_40d_cell_7">
            <a:extLst xmlns:a="http://schemas.openxmlformats.org/drawingml/2006/main">
              <a:ext uri="{FF2B5EF4-FFF2-40B4-BE49-F238E27FC236}">
                <a16:creationId xmlns:a16="http://schemas.microsoft.com/office/drawing/2014/main" id="{6A317303-A1E6-474B-A9F2-132AA8C3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29" name="v6_fused_40d_cell_8">
            <a:extLst xmlns:a="http://schemas.openxmlformats.org/drawingml/2006/main">
              <a:ext uri="{FF2B5EF4-FFF2-40B4-BE49-F238E27FC236}">
                <a16:creationId xmlns:a16="http://schemas.microsoft.com/office/drawing/2014/main" id="{C7D36C33-D966-4665-BC2E-37280F0C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30" name="v6_fused_40d_cell_9">
            <a:extLst xmlns:a="http://schemas.openxmlformats.org/drawingml/2006/main">
              <a:ext uri="{FF2B5EF4-FFF2-40B4-BE49-F238E27FC236}">
                <a16:creationId xmlns:a16="http://schemas.microsoft.com/office/drawing/2014/main" id="{9A37706A-21B0-4BC8-AF15-3630977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31" name="v6_fused_40d_cell_10">
            <a:extLst xmlns:a="http://schemas.openxmlformats.org/drawingml/2006/main">
              <a:ext uri="{FF2B5EF4-FFF2-40B4-BE49-F238E27FC236}">
                <a16:creationId xmlns:a16="http://schemas.microsoft.com/office/drawing/2014/main" id="{CA2CF51D-87E4-4518-9F64-7A1A0A91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2146849"/>
            <a:ext cx="98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32" name="v6_fused_40d_title">
            <a:extLst xmlns:a="http://schemas.openxmlformats.org/drawingml/2006/main">
              <a:ext uri="{FF2B5EF4-FFF2-40B4-BE49-F238E27FC236}">
                <a16:creationId xmlns:a16="http://schemas.microsoft.com/office/drawing/2014/main" id="{7ABE1A45-28BE-4001-B170-F7C27B88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782838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Fusion</a:t>
            </a:r>
          </a:p>
        </p:txBody>
      </p:sp>
      <p:sp>
        <p:nvSpPr>
          <p:cNvPr id="633" name="v6_fused_40d_dimension">
            <a:extLst xmlns:a="http://schemas.openxmlformats.org/drawingml/2006/main">
              <a:ext uri="{FF2B5EF4-FFF2-40B4-BE49-F238E27FC236}">
                <a16:creationId xmlns:a16="http://schemas.microsoft.com/office/drawing/2014/main" id="{75E6E5FA-7F69-4929-8F30-DB6D2B3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80224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32 + 8 = 40-D</a:t>
            </a:r>
          </a:p>
        </p:txBody>
      </p:sp>
      <p:sp>
        <p:nvSpPr>
          <p:cNvPr id="634" name="v6_regression_16d_outer">
            <a:extLst xmlns:a="http://schemas.openxmlformats.org/drawingml/2006/main">
              <a:ext uri="{FF2B5EF4-FFF2-40B4-BE49-F238E27FC236}">
                <a16:creationId xmlns:a16="http://schemas.microsoft.com/office/drawing/2014/main" id="{CFA8B052-8803-417E-9E5E-16308DC1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156374"/>
            <a:ext cx="552450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35" name="v6_regression_16d_cell_1">
            <a:extLst xmlns:a="http://schemas.openxmlformats.org/drawingml/2006/main">
              <a:ext uri="{FF2B5EF4-FFF2-40B4-BE49-F238E27FC236}">
                <a16:creationId xmlns:a16="http://schemas.microsoft.com/office/drawing/2014/main" id="{62E4D9D9-9EE5-45B2-8824-D1C0B77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175424"/>
            <a:ext cx="1314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FF2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36" name="v6_regression_16d_cell_2">
            <a:extLst xmlns:a="http://schemas.openxmlformats.org/drawingml/2006/main">
              <a:ext uri="{FF2B5EF4-FFF2-40B4-BE49-F238E27FC236}">
                <a16:creationId xmlns:a16="http://schemas.microsoft.com/office/drawing/2014/main" id="{5D108581-761D-4012-92EE-7153446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388" y="2175424"/>
            <a:ext cx="1314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FF2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37" name="v6_regression_16d_cell_3">
            <a:extLst xmlns:a="http://schemas.openxmlformats.org/drawingml/2006/main">
              <a:ext uri="{FF2B5EF4-FFF2-40B4-BE49-F238E27FC236}">
                <a16:creationId xmlns:a16="http://schemas.microsoft.com/office/drawing/2014/main" id="{3397184F-FDF3-473B-B8E2-C04DE83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2175424"/>
            <a:ext cx="1314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FF2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38" name="v6_regression_16d_cell_4">
            <a:extLst xmlns:a="http://schemas.openxmlformats.org/drawingml/2006/main">
              <a:ext uri="{FF2B5EF4-FFF2-40B4-BE49-F238E27FC236}">
                <a16:creationId xmlns:a16="http://schemas.microsoft.com/office/drawing/2014/main" id="{65F9DBF6-2918-4929-AA14-9EA5E9C4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563" y="2175424"/>
            <a:ext cx="1314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FF2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39" name="v6_regression_16d_title">
            <a:extLst xmlns:a="http://schemas.openxmlformats.org/drawingml/2006/main">
              <a:ext uri="{FF2B5EF4-FFF2-40B4-BE49-F238E27FC236}">
                <a16:creationId xmlns:a16="http://schemas.microsoft.com/office/drawing/2014/main" id="{DEB6D856-4D58-4FC5-BABD-CE36C1FC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9050" y="1737274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Regression head</a:t>
            </a:r>
          </a:p>
        </p:txBody>
      </p:sp>
      <p:sp>
        <p:nvSpPr>
          <p:cNvPr id="640" name="v6_regression_16d_dimension">
            <a:extLst xmlns:a="http://schemas.openxmlformats.org/drawingml/2006/main">
              <a:ext uri="{FF2B5EF4-FFF2-40B4-BE49-F238E27FC236}">
                <a16:creationId xmlns:a16="http://schemas.microsoft.com/office/drawing/2014/main" id="{F034564A-4DAB-4BF1-ACCD-099994EB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470699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16-D</a:t>
            </a:r>
          </a:p>
        </p:txBody>
      </p:sp>
      <p:sp>
        <p:nvSpPr>
          <p:cNvPr id="641" name="v6_regression_1d_outer">
            <a:extLst xmlns:a="http://schemas.openxmlformats.org/drawingml/2006/main">
              <a:ext uri="{FF2B5EF4-FFF2-40B4-BE49-F238E27FC236}">
                <a16:creationId xmlns:a16="http://schemas.microsoft.com/office/drawing/2014/main" id="{B46AEAD0-4384-42AB-B71B-C14E9FFE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203999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42" name="v6_regression_1d_cell_1">
            <a:extLst xmlns:a="http://schemas.openxmlformats.org/drawingml/2006/main">
              <a:ext uri="{FF2B5EF4-FFF2-40B4-BE49-F238E27FC236}">
                <a16:creationId xmlns:a16="http://schemas.microsoft.com/office/drawing/2014/main" id="{3397CAC5-4650-4381-BC56-FA10D332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223049"/>
            <a:ext cx="13620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9BC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43" name="v6_regression_1d_title">
            <a:extLst xmlns:a="http://schemas.openxmlformats.org/drawingml/2006/main">
              <a:ext uri="{FF2B5EF4-FFF2-40B4-BE49-F238E27FC236}">
                <a16:creationId xmlns:a16="http://schemas.microsoft.com/office/drawing/2014/main" id="{71C30261-7FCA-412E-BA60-5885181E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990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4" name="v6_regression_1d_dimension">
            <a:extLst xmlns:a="http://schemas.openxmlformats.org/drawingml/2006/main">
              <a:ext uri="{FF2B5EF4-FFF2-40B4-BE49-F238E27FC236}">
                <a16:creationId xmlns:a16="http://schemas.microsoft.com/office/drawing/2014/main" id="{156BF967-AB88-46C3-A86E-C3DC7A00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432599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627087"/>
                </a:solidFill>
              </a:defRPr>
            </a:pPr>
            <a:r>
              <a:rPr sz="1050" b="1" i="0">
                <a:solidFill>
                  <a:srgbClr val="627087"/>
                </a:solidFill>
              </a:rPr>
              <a:t>1-D</a:t>
            </a:r>
          </a:p>
        </p:txBody>
      </p:sp>
      <p:sp>
        <p:nvSpPr>
          <p:cNvPr id="645" name="v6_regression_sequence">
            <a:extLst xmlns:a="http://schemas.openxmlformats.org/drawingml/2006/main">
              <a:ext uri="{FF2B5EF4-FFF2-40B4-BE49-F238E27FC236}">
                <a16:creationId xmlns:a16="http://schemas.microsoft.com/office/drawing/2014/main" id="{30E5DFDA-9996-4F2A-A1D7-E9BB0538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706130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627087"/>
                </a:solidFill>
              </a:defRPr>
            </a:pPr>
            <a:r>
              <a:rPr sz="1013" b="1" i="0">
                <a:solidFill>
                  <a:srgbClr val="627087"/>
                </a:solidFill>
              </a:rPr>
              <a:t>Linear 40→16 · </a:t>
            </a:r>
            <a:r>
              <a:rPr sz="1013" b="1" i="0">
                <a:solidFill>
                  <a:srgbClr val="627087"/>
                </a:solidFill>
              </a:rPr>
              <a:t>SiLU</a:t>
            </a:r>
            <a:r>
              <a:rPr sz="1013" b="1" i="0">
                <a:solidFill>
                  <a:srgbClr val="627087"/>
                </a:solidFill>
              </a:rPr>
              <a:t> · Dropout 0.15 · </a:t>
            </a:r>
            <a:endParaRPr sz="1013" b="1" i="0">
              <a:solidFill>
                <a:srgbClr val="627087"/>
              </a:solidFill>
            </a:endParaRPr>
          </a:p>
          <a:p xmlns:a="http://schemas.openxmlformats.org/drawingml/2006/main">
            <a:pPr algn="ctr">
              <a:buNone/>
              <a:defRPr sz="1013" b="1" i="0">
                <a:solidFill>
                  <a:srgbClr val="627087"/>
                </a:solidFill>
              </a:defRPr>
            </a:pPr>
            <a:r>
              <a:rPr sz="1013" b="1" i="0">
                <a:solidFill>
                  <a:srgbClr val="627087"/>
                </a:solidFill>
              </a:rPr>
              <a:t>Linear 16→1</a:t>
            </a:r>
          </a:p>
        </p:txBody>
      </p:sp>
      <p:sp>
        <p:nvSpPr>
          <p:cNvPr id="646" name="v6_physical_raw_outer">
            <a:extLst xmlns:a="http://schemas.openxmlformats.org/drawingml/2006/main">
              <a:ext uri="{FF2B5EF4-FFF2-40B4-BE49-F238E27FC236}">
                <a16:creationId xmlns:a16="http://schemas.microsoft.com/office/drawing/2014/main" id="{95938828-5B90-48DD-BF43-78E06B18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2"/>
            <a:ext cx="600075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47" name="v6_physical_raw_cell_1">
            <a:extLst xmlns:a="http://schemas.openxmlformats.org/drawingml/2006/main">
              <a:ext uri="{FF2B5EF4-FFF2-40B4-BE49-F238E27FC236}">
                <a16:creationId xmlns:a16="http://schemas.microsoft.com/office/drawing/2014/main" id="{054D10B4-F77B-45DA-A238-15151F80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48" name="v6_physical_raw_cell_2">
            <a:extLst xmlns:a="http://schemas.openxmlformats.org/drawingml/2006/main">
              <a:ext uri="{FF2B5EF4-FFF2-40B4-BE49-F238E27FC236}">
                <a16:creationId xmlns:a16="http://schemas.microsoft.com/office/drawing/2014/main" id="{64154158-8343-4D84-88A4-23BD4F8D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957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49" name="v6_physical_raw_cell_3">
            <a:extLst xmlns:a="http://schemas.openxmlformats.org/drawingml/2006/main">
              <a:ext uri="{FF2B5EF4-FFF2-40B4-BE49-F238E27FC236}">
                <a16:creationId xmlns:a16="http://schemas.microsoft.com/office/drawing/2014/main" id="{4E7D5944-450D-48AE-922D-801980FE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239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50" name="v6_physical_raw_cell_4">
            <a:extLst xmlns:a="http://schemas.openxmlformats.org/drawingml/2006/main">
              <a:ext uri="{FF2B5EF4-FFF2-40B4-BE49-F238E27FC236}">
                <a16:creationId xmlns:a16="http://schemas.microsoft.com/office/drawing/2014/main" id="{E71E6CDA-42B5-4EC3-A5CD-16E8B08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521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51" name="v6_physical_raw_cell_5">
            <a:extLst xmlns:a="http://schemas.openxmlformats.org/drawingml/2006/main">
              <a:ext uri="{FF2B5EF4-FFF2-40B4-BE49-F238E27FC236}">
                <a16:creationId xmlns:a16="http://schemas.microsoft.com/office/drawing/2014/main" id="{71B6428F-7EA4-42CB-8FD9-62F349CB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804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52" name="v6_physical_raw_cell_6">
            <a:extLst xmlns:a="http://schemas.openxmlformats.org/drawingml/2006/main">
              <a:ext uri="{FF2B5EF4-FFF2-40B4-BE49-F238E27FC236}">
                <a16:creationId xmlns:a16="http://schemas.microsoft.com/office/drawing/2014/main" id="{9C082182-113B-4FC0-A0B6-059FF03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086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53" name="v6_physical_raw_cell_7">
            <a:extLst xmlns:a="http://schemas.openxmlformats.org/drawingml/2006/main">
              <a:ext uri="{FF2B5EF4-FFF2-40B4-BE49-F238E27FC236}">
                <a16:creationId xmlns:a16="http://schemas.microsoft.com/office/drawing/2014/main" id="{30A882F3-0BFC-4BC4-9679-2F1A553E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368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54" name="v6_physical_raw_title">
            <a:extLst xmlns:a="http://schemas.openxmlformats.org/drawingml/2006/main">
              <a:ext uri="{FF2B5EF4-FFF2-40B4-BE49-F238E27FC236}">
                <a16:creationId xmlns:a16="http://schemas.microsoft.com/office/drawing/2014/main" id="{AB7DF317-081E-4F17-829A-D798CCC7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867" y="3924243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Physical vector</a:t>
            </a:r>
          </a:p>
        </p:txBody>
      </p:sp>
      <p:sp>
        <p:nvSpPr>
          <p:cNvPr id="655" name="v6_physical_raw_dimension">
            <a:extLst xmlns:a="http://schemas.openxmlformats.org/drawingml/2006/main">
              <a:ext uri="{FF2B5EF4-FFF2-40B4-BE49-F238E27FC236}">
                <a16:creationId xmlns:a16="http://schemas.microsoft.com/office/drawing/2014/main" id="{8F9FD31A-C556-4922-9318-22485024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2"/>
            <a:ext cx="1076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7 descriptors</a:t>
            </a:r>
          </a:p>
        </p:txBody>
      </p:sp>
      <p:sp>
        <p:nvSpPr>
          <p:cNvPr id="656" name="v6_physical_standard_outer">
            <a:extLst xmlns:a="http://schemas.openxmlformats.org/drawingml/2006/main">
              <a:ext uri="{FF2B5EF4-FFF2-40B4-BE49-F238E27FC236}">
                <a16:creationId xmlns:a16="http://schemas.microsoft.com/office/drawing/2014/main" id="{E4FD76CE-A1D6-4D40-B5E7-C0056CA2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33872"/>
            <a:ext cx="600075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57" name="v6_physical_standard_cell_1">
            <a:extLst xmlns:a="http://schemas.openxmlformats.org/drawingml/2006/main">
              <a:ext uri="{FF2B5EF4-FFF2-40B4-BE49-F238E27FC236}">
                <a16:creationId xmlns:a16="http://schemas.microsoft.com/office/drawing/2014/main" id="{770122BA-1516-4F03-8FC4-B8752383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2B8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58" name="v6_physical_standard_cell_2">
            <a:extLst xmlns:a="http://schemas.openxmlformats.org/drawingml/2006/main">
              <a:ext uri="{FF2B5EF4-FFF2-40B4-BE49-F238E27FC236}">
                <a16:creationId xmlns:a16="http://schemas.microsoft.com/office/drawing/2014/main" id="{C4B0C28B-2B37-41C9-8737-09557F13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32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2B8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59" name="v6_physical_standard_cell_3">
            <a:extLst xmlns:a="http://schemas.openxmlformats.org/drawingml/2006/main">
              <a:ext uri="{FF2B5EF4-FFF2-40B4-BE49-F238E27FC236}">
                <a16:creationId xmlns:a16="http://schemas.microsoft.com/office/drawing/2014/main" id="{E895FBE9-6E1C-4E19-9579-BF7B6E38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14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2B8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60" name="v6_physical_standard_cell_4">
            <a:extLst xmlns:a="http://schemas.openxmlformats.org/drawingml/2006/main">
              <a:ext uri="{FF2B5EF4-FFF2-40B4-BE49-F238E27FC236}">
                <a16:creationId xmlns:a16="http://schemas.microsoft.com/office/drawing/2014/main" id="{BA90B5B3-1840-4736-9156-6D26C6E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996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2B8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61" name="v6_physical_standard_cell_5">
            <a:extLst xmlns:a="http://schemas.openxmlformats.org/drawingml/2006/main">
              <a:ext uri="{FF2B5EF4-FFF2-40B4-BE49-F238E27FC236}">
                <a16:creationId xmlns:a16="http://schemas.microsoft.com/office/drawing/2014/main" id="{4E7EFBAB-E5DB-44FC-83CC-B23BF07A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279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2B8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62" name="v6_physical_standard_cell_6">
            <a:extLst xmlns:a="http://schemas.openxmlformats.org/drawingml/2006/main">
              <a:ext uri="{FF2B5EF4-FFF2-40B4-BE49-F238E27FC236}">
                <a16:creationId xmlns:a16="http://schemas.microsoft.com/office/drawing/2014/main" id="{EF8F58F0-AAB9-4399-A69F-8161BB3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561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2B8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63" name="v6_physical_standard_cell_7">
            <a:extLst xmlns:a="http://schemas.openxmlformats.org/drawingml/2006/main">
              <a:ext uri="{FF2B5EF4-FFF2-40B4-BE49-F238E27FC236}">
                <a16:creationId xmlns:a16="http://schemas.microsoft.com/office/drawing/2014/main" id="{3F7AB5B7-1C35-472E-BBE1-862D2CE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843" y="4352922"/>
            <a:ext cx="831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2B8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64" name="v6_physical_standard_title">
            <a:extLst xmlns:a="http://schemas.openxmlformats.org/drawingml/2006/main">
              <a:ext uri="{FF2B5EF4-FFF2-40B4-BE49-F238E27FC236}">
                <a16:creationId xmlns:a16="http://schemas.microsoft.com/office/drawing/2014/main" id="{3C637F21-6E63-4AEE-A3DE-39D83E22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23236"/>
            <a:ext cx="149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Fold-local z-score</a:t>
            </a:r>
          </a:p>
        </p:txBody>
      </p:sp>
      <p:sp>
        <p:nvSpPr>
          <p:cNvPr id="665" name="v6_physical_standard_dimension">
            <a:extLst xmlns:a="http://schemas.openxmlformats.org/drawingml/2006/main">
              <a:ext uri="{FF2B5EF4-FFF2-40B4-BE49-F238E27FC236}">
                <a16:creationId xmlns:a16="http://schemas.microsoft.com/office/drawing/2014/main" id="{4298AB60-9252-40CE-A707-123C503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76772"/>
            <a:ext cx="1076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7 standardized</a:t>
            </a:r>
          </a:p>
        </p:txBody>
      </p:sp>
      <p:sp>
        <p:nvSpPr>
          <p:cNvPr id="666" name="v6_physical_encoded_outer">
            <a:extLst xmlns:a="http://schemas.openxmlformats.org/drawingml/2006/main">
              <a:ext uri="{FF2B5EF4-FFF2-40B4-BE49-F238E27FC236}">
                <a16:creationId xmlns:a16="http://schemas.microsoft.com/office/drawing/2014/main" id="{FDA130B0-F7E8-402A-823B-EF73B028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14822"/>
            <a:ext cx="6858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153"/>
            </a:solidFill>
            <a:prstDash val="solid"/>
          </a:ln>
        </p:spPr>
      </p:sp>
      <p:sp>
        <p:nvSpPr>
          <p:cNvPr id="667" name="v6_physical_encoded_cell_1">
            <a:extLst xmlns:a="http://schemas.openxmlformats.org/drawingml/2006/main">
              <a:ext uri="{FF2B5EF4-FFF2-40B4-BE49-F238E27FC236}">
                <a16:creationId xmlns:a16="http://schemas.microsoft.com/office/drawing/2014/main" id="{662C11C3-BFF9-4F3D-880B-38E90660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68" name="v6_physical_encoded_cell_2">
            <a:extLst xmlns:a="http://schemas.openxmlformats.org/drawingml/2006/main">
              <a:ext uri="{FF2B5EF4-FFF2-40B4-BE49-F238E27FC236}">
                <a16:creationId xmlns:a16="http://schemas.microsoft.com/office/drawing/2014/main" id="{2EED8F91-CEAB-4B6A-973A-084A291B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69" name="v6_physical_encoded_cell_3">
            <a:extLst xmlns:a="http://schemas.openxmlformats.org/drawingml/2006/main">
              <a:ext uri="{FF2B5EF4-FFF2-40B4-BE49-F238E27FC236}">
                <a16:creationId xmlns:a16="http://schemas.microsoft.com/office/drawing/2014/main" id="{2FF354A1-A00D-4B35-B5F7-A30EE73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70" name="v6_physical_encoded_cell_4">
            <a:extLst xmlns:a="http://schemas.openxmlformats.org/drawingml/2006/main">
              <a:ext uri="{FF2B5EF4-FFF2-40B4-BE49-F238E27FC236}">
                <a16:creationId xmlns:a16="http://schemas.microsoft.com/office/drawing/2014/main" id="{487DF4E1-98EB-4BF2-A581-986A08BC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71" name="v6_physical_encoded_cell_5">
            <a:extLst xmlns:a="http://schemas.openxmlformats.org/drawingml/2006/main">
              <a:ext uri="{FF2B5EF4-FFF2-40B4-BE49-F238E27FC236}">
                <a16:creationId xmlns:a16="http://schemas.microsoft.com/office/drawing/2014/main" id="{9D386398-915E-48C7-893E-C882861D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72" name="v6_physical_encoded_cell_6">
            <a:extLst xmlns:a="http://schemas.openxmlformats.org/drawingml/2006/main">
              <a:ext uri="{FF2B5EF4-FFF2-40B4-BE49-F238E27FC236}">
                <a16:creationId xmlns:a16="http://schemas.microsoft.com/office/drawing/2014/main" id="{FA3B692C-5517-4979-948B-24A80E4B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963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73" name="v6_physical_encoded_cell_7">
            <a:extLst xmlns:a="http://schemas.openxmlformats.org/drawingml/2006/main">
              <a:ext uri="{FF2B5EF4-FFF2-40B4-BE49-F238E27FC236}">
                <a16:creationId xmlns:a16="http://schemas.microsoft.com/office/drawing/2014/main" id="{EC2E34BF-B06A-4CEC-82C1-F6ECB76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74" name="v6_physical_encoded_cell_8">
            <a:extLst xmlns:a="http://schemas.openxmlformats.org/drawingml/2006/main">
              <a:ext uri="{FF2B5EF4-FFF2-40B4-BE49-F238E27FC236}">
                <a16:creationId xmlns:a16="http://schemas.microsoft.com/office/drawing/2014/main" id="{0CD7F27D-1187-464D-8A2F-36EFE9F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4333872"/>
            <a:ext cx="838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8E9"/>
          </a:solidFill>
          <a:ln xmlns:a="http://schemas.openxmlformats.org/drawingml/2006/main" w="8573">
            <a:solidFill>
              <a:srgbClr val="61738A"/>
            </a:solidFill>
            <a:prstDash val="solid"/>
          </a:ln>
        </p:spPr>
      </p:sp>
      <p:sp>
        <p:nvSpPr>
          <p:cNvPr id="675" name="v6_physical_encoded_title">
            <a:extLst xmlns:a="http://schemas.openxmlformats.org/drawingml/2006/main">
              <a:ext uri="{FF2B5EF4-FFF2-40B4-BE49-F238E27FC236}">
                <a16:creationId xmlns:a16="http://schemas.microsoft.com/office/drawing/2014/main" id="{072EA7DB-C38E-4213-AEA7-9E1C0F5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522" y="3902067"/>
            <a:ext cx="15549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3153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Linear 7→8 + </a:t>
            </a:r>
            <a:r>
              <a:rPr sz="1275" b="1" i="0">
                <a:solidFill>
                  <a:srgbClr val="173153"/>
                </a:solidFill>
              </a:rPr>
              <a:t>SiLU</a:t>
            </a:r>
            <a:endParaRPr sz="1275" b="1" i="0">
              <a:solidFill>
                <a:srgbClr val="173153"/>
              </a:solidFill>
            </a:endParaRPr>
          </a:p>
        </p:txBody>
      </p:sp>
      <p:sp>
        <p:nvSpPr>
          <p:cNvPr id="676" name="v6_physical_encoded_dimension">
            <a:extLst xmlns:a="http://schemas.openxmlformats.org/drawingml/2006/main">
              <a:ext uri="{FF2B5EF4-FFF2-40B4-BE49-F238E27FC236}">
                <a16:creationId xmlns:a16="http://schemas.microsoft.com/office/drawing/2014/main" id="{902DC253-309D-49E3-A606-A77B601C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695822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 i="0">
                <a:solidFill>
                  <a:srgbClr val="627087"/>
                </a:solidFill>
              </a:rPr>
              <a:t>8-D encoded</a:t>
            </a:r>
          </a:p>
        </p:txBody>
      </p:sp>
      <p:sp>
        <p:nvSpPr>
          <p:cNvPr id="677" name="v6_residual_projection_sheet_4">
            <a:extLst xmlns:a="http://schemas.openxmlformats.org/drawingml/2006/main">
              <a:ext uri="{FF2B5EF4-FFF2-40B4-BE49-F238E27FC236}">
                <a16:creationId xmlns:a16="http://schemas.microsoft.com/office/drawing/2014/main" id="{20C50F9D-0904-41C2-8D0A-FAC8FFF3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1499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DE9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678" name="v6_residual_projection_sheet_3">
            <a:extLst xmlns:a="http://schemas.openxmlformats.org/drawingml/2006/main">
              <a:ext uri="{FF2B5EF4-FFF2-40B4-BE49-F238E27FC236}">
                <a16:creationId xmlns:a16="http://schemas.microsoft.com/office/drawing/2014/main" id="{C4A67012-F151-4BAC-BF68-7C783B0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99124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AE8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679" name="v6_residual_projection_sheet_2">
            <a:extLst xmlns:a="http://schemas.openxmlformats.org/drawingml/2006/main">
              <a:ext uri="{FF2B5EF4-FFF2-40B4-BE49-F238E27FC236}">
                <a16:creationId xmlns:a16="http://schemas.microsoft.com/office/drawing/2014/main" id="{4E253D03-6E9D-4995-AD52-F2732866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46749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7E6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680" name="v6_residual_projection_sheet_1">
            <a:extLst xmlns:a="http://schemas.openxmlformats.org/drawingml/2006/main">
              <a:ext uri="{FF2B5EF4-FFF2-40B4-BE49-F238E27FC236}">
                <a16:creationId xmlns:a16="http://schemas.microsoft.com/office/drawing/2014/main" id="{9AB22C33-2047-4D96-B0B2-901B6E1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94374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4E5"/>
          </a:solidFill>
          <a:ln xmlns:a="http://schemas.openxmlformats.org/drawingml/2006/main" w="16193">
            <a:solidFill>
              <a:srgbClr val="173153"/>
            </a:solidFill>
            <a:prstDash val="solid"/>
          </a:ln>
        </p:spPr>
      </p:sp>
      <p:sp>
        <p:nvSpPr>
          <p:cNvPr id="681" name="v6_residual_projection_title">
            <a:extLst xmlns:a="http://schemas.openxmlformats.org/drawingml/2006/main">
              <a:ext uri="{FF2B5EF4-FFF2-40B4-BE49-F238E27FC236}">
                <a16:creationId xmlns:a16="http://schemas.microsoft.com/office/drawing/2014/main" id="{E36E7CAA-0288-44EC-A813-053A81B8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79999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75" b="1" i="0">
                <a:solidFill>
                  <a:srgbClr val="173153"/>
                </a:solidFill>
              </a:rPr>
              <a:t>Residual projection  </a:t>
            </a:r>
            <a:r>
              <a:rPr sz="1200" b="1">
                <a:solidFill>
                  <a:srgbClr val="627087"/>
                </a:solidFill>
              </a:rPr>
              <a:t>1×1 Conv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627087"/>
                </a:solidFill>
              </a:defRPr>
            </a:pPr>
            <a:r>
              <a:rPr sz="1200" b="1">
                <a:solidFill>
                  <a:srgbClr val="627087"/>
                </a:solidFill>
              </a:rPr>
              <a:t>1×256 → 16×256</a:t>
            </a:r>
          </a:p>
        </p:txBody>
      </p:sp>
      <p:cxnSp>
        <p:nvCxnSpPr>
          <p:cNvPr id="1105" name="v6_shape_to_tensor"/>
          <p:cNvCxnSpPr>
            <a:endCxn xmlns:a="http://schemas.openxmlformats.org/drawingml/2006/main" id="578" idx="1"/>
          </p:cNvCxnSpPr>
          <p:nvPr/>
        </p:nvCxnSpPr>
        <p:spPr>
          <a:xfrm xmlns:a="http://schemas.openxmlformats.org/drawingml/2006/main">
            <a:off x="4985974" y="2320994"/>
            <a:ext cx="252776" cy="1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06" name="v6_tensor_to_block1"/>
          <p:cNvCxnSpPr>
            <a:stCxn xmlns:a="http://schemas.openxmlformats.org/drawingml/2006/main" id="578" idx="3"/>
            <a:endCxn xmlns:a="http://schemas.openxmlformats.org/drawingml/2006/main" id="584" idx="1"/>
          </p:cNvCxnSpPr>
          <p:nvPr/>
        </p:nvCxnSpPr>
        <p:spPr>
          <a:xfrm xmlns:a="http://schemas.openxmlformats.org/drawingml/2006/main" flipV="1">
            <a:off x="6076950" y="2313537"/>
            <a:ext cx="409575" cy="745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07" name="v6_block1_to_block2"/>
          <p:cNvCxnSpPr>
            <a:stCxn xmlns:a="http://schemas.openxmlformats.org/drawingml/2006/main" id="584" idx="3"/>
            <a:endCxn xmlns:a="http://schemas.openxmlformats.org/drawingml/2006/main" id="590" idx="1"/>
          </p:cNvCxnSpPr>
          <p:nvPr/>
        </p:nvCxnSpPr>
        <p:spPr>
          <a:xfrm xmlns:a="http://schemas.openxmlformats.org/drawingml/2006/main">
            <a:off x="7324725" y="2313537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08" name="v6_block2_to_add"/>
          <p:cNvCxnSpPr>
            <a:stCxn xmlns:a="http://schemas.openxmlformats.org/drawingml/2006/main" id="590" idx="3"/>
            <a:endCxn xmlns:a="http://schemas.openxmlformats.org/drawingml/2006/main" id="593" idx="2"/>
          </p:cNvCxnSpPr>
          <p:nvPr/>
        </p:nvCxnSpPr>
        <p:spPr>
          <a:xfrm xmlns:a="http://schemas.openxmlformats.org/drawingml/2006/main" flipV="1">
            <a:off x="8667750" y="2299249"/>
            <a:ext cx="35242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09" name="v6_add_to_mean"/>
          <p:cNvCxnSpPr>
            <a:stCxn xmlns:a="http://schemas.openxmlformats.org/drawingml/2006/main" id="593" idx="6"/>
            <a:endCxn xmlns:a="http://schemas.openxmlformats.org/drawingml/2006/main" id="596" idx="1"/>
          </p:cNvCxnSpPr>
          <p:nvPr/>
        </p:nvCxnSpPr>
        <p:spPr>
          <a:xfrm xmlns:a="http://schemas.openxmlformats.org/drawingml/2006/main" flipV="1">
            <a:off x="9401175" y="2061124"/>
            <a:ext cx="2667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10" name="v6_add_to_max"/>
          <p:cNvCxnSpPr>
            <a:stCxn xmlns:a="http://schemas.openxmlformats.org/drawingml/2006/main" id="593" idx="6"/>
            <a:endCxn xmlns:a="http://schemas.openxmlformats.org/drawingml/2006/main" id="603" idx="1"/>
          </p:cNvCxnSpPr>
          <p:nvPr/>
        </p:nvCxnSpPr>
        <p:spPr>
          <a:xfrm xmlns:a="http://schemas.openxmlformats.org/drawingml/2006/main">
            <a:off x="9401175" y="2299249"/>
            <a:ext cx="26670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11" name="v6_mean_to_spectral"/>
          <p:cNvCxnSpPr>
            <a:stCxn xmlns:a="http://schemas.openxmlformats.org/drawingml/2006/main" id="596" idx="3"/>
            <a:endCxn xmlns:a="http://schemas.openxmlformats.org/drawingml/2006/main" id="610" idx="1"/>
          </p:cNvCxnSpPr>
          <p:nvPr/>
        </p:nvCxnSpPr>
        <p:spPr>
          <a:xfrm xmlns:a="http://schemas.openxmlformats.org/drawingml/2006/main">
            <a:off x="10201275" y="2061124"/>
            <a:ext cx="295275" cy="2143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12" name="v6_max_to_spectral"/>
          <p:cNvCxnSpPr>
            <a:stCxn xmlns:a="http://schemas.openxmlformats.org/drawingml/2006/main" id="603" idx="3"/>
            <a:endCxn xmlns:a="http://schemas.openxmlformats.org/drawingml/2006/main" id="610" idx="1"/>
          </p:cNvCxnSpPr>
          <p:nvPr/>
        </p:nvCxnSpPr>
        <p:spPr>
          <a:xfrm xmlns:a="http://schemas.openxmlformats.org/drawingml/2006/main" flipV="1">
            <a:off x="10201275" y="2275437"/>
            <a:ext cx="295275" cy="20478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13" name="v6_spectral_to_fusion"/>
          <p:cNvCxnSpPr>
            <a:stCxn xmlns:a="http://schemas.openxmlformats.org/drawingml/2006/main" id="610" idx="3"/>
            <a:endCxn xmlns:a="http://schemas.openxmlformats.org/drawingml/2006/main" id="621" idx="1"/>
          </p:cNvCxnSpPr>
          <p:nvPr/>
        </p:nvCxnSpPr>
        <p:spPr>
          <a:xfrm xmlns:a="http://schemas.openxmlformats.org/drawingml/2006/main">
            <a:off x="11277600" y="2275437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14" name="v6_fusion_to_hidden"/>
          <p:cNvCxnSpPr>
            <a:stCxn xmlns:a="http://schemas.openxmlformats.org/drawingml/2006/main" id="621" idx="3"/>
            <a:endCxn xmlns:a="http://schemas.openxmlformats.org/drawingml/2006/main" id="634" idx="1"/>
          </p:cNvCxnSpPr>
          <p:nvPr/>
        </p:nvCxnSpPr>
        <p:spPr>
          <a:xfrm xmlns:a="http://schemas.openxmlformats.org/drawingml/2006/main">
            <a:off x="12563475" y="2275437"/>
            <a:ext cx="2952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15" name="v6_hidden_to_scalar"/>
          <p:cNvCxnSpPr>
            <a:stCxn xmlns:a="http://schemas.openxmlformats.org/drawingml/2006/main" id="634" idx="3"/>
            <a:endCxn xmlns:a="http://schemas.openxmlformats.org/drawingml/2006/main" id="641" idx="1"/>
          </p:cNvCxnSpPr>
          <p:nvPr/>
        </p:nvCxnSpPr>
        <p:spPr>
          <a:xfrm xmlns:a="http://schemas.openxmlformats.org/drawingml/2006/main">
            <a:off x="13411200" y="2284962"/>
            <a:ext cx="2095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16" name="v6_descriptors_to_raw"/>
          <p:cNvCxnSpPr>
            <a:stCxn xmlns:a="http://schemas.openxmlformats.org/drawingml/2006/main" id="50" idx="3"/>
            <a:endCxn xmlns:a="http://schemas.openxmlformats.org/drawingml/2006/main" id="646" idx="1"/>
          </p:cNvCxnSpPr>
          <p:nvPr/>
        </p:nvCxnSpPr>
        <p:spPr>
          <a:xfrm xmlns:a="http://schemas.openxmlformats.org/drawingml/2006/main" flipV="1">
            <a:off x="6153150" y="4476747"/>
            <a:ext cx="371475" cy="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dash"/>
            <a:tailEnd type="arrow" w="sm" len="sm"/>
          </a:ln>
        </p:spPr>
      </p:cxnSp>
      <p:cxnSp>
        <p:nvCxnSpPr>
          <p:cNvPr id="1117" name="v6_raw_to_standard"/>
          <p:cNvCxnSpPr>
            <a:stCxn xmlns:a="http://schemas.openxmlformats.org/drawingml/2006/main" id="646" idx="3"/>
            <a:endCxn xmlns:a="http://schemas.openxmlformats.org/drawingml/2006/main" id="656" idx="1"/>
          </p:cNvCxnSpPr>
          <p:nvPr/>
        </p:nvCxnSpPr>
        <p:spPr>
          <a:xfrm xmlns:a="http://schemas.openxmlformats.org/drawingml/2006/main">
            <a:off x="7124700" y="447674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dash"/>
            <a:tailEnd type="arrow" w="sm" len="sm"/>
          </a:ln>
        </p:spPr>
      </p:cxnSp>
      <p:cxnSp>
        <p:nvCxnSpPr>
          <p:cNvPr id="1118" name="v6_standard_to_encoded"/>
          <p:cNvCxnSpPr>
            <a:stCxn xmlns:a="http://schemas.openxmlformats.org/drawingml/2006/main" id="656" idx="3"/>
            <a:endCxn xmlns:a="http://schemas.openxmlformats.org/drawingml/2006/main" id="666" idx="1"/>
          </p:cNvCxnSpPr>
          <p:nvPr/>
        </p:nvCxnSpPr>
        <p:spPr>
          <a:xfrm xmlns:a="http://schemas.openxmlformats.org/drawingml/2006/main">
            <a:off x="8639175" y="4476747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dash"/>
            <a:tailEnd type="arrow" w="sm" len="sm"/>
          </a:ln>
        </p:spPr>
      </p:cxnSp>
      <p:cxnSp>
        <p:nvCxnSpPr>
          <p:cNvPr id="1119" name="v6_encoded_to_fusion"/>
          <p:cNvCxnSpPr>
            <a:stCxn xmlns:a="http://schemas.openxmlformats.org/drawingml/2006/main" id="666" idx="3"/>
            <a:endCxn xmlns:a="http://schemas.openxmlformats.org/drawingml/2006/main" id="621" idx="2"/>
          </p:cNvCxnSpPr>
          <p:nvPr/>
        </p:nvCxnSpPr>
        <p:spPr>
          <a:xfrm xmlns:a="http://schemas.openxmlformats.org/drawingml/2006/main" flipV="1">
            <a:off x="10248900" y="2423074"/>
            <a:ext cx="1819275" cy="2053673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73153"/>
            </a:solidFill>
            <a:prstDash val="dash"/>
            <a:tailEnd type="arrow" w="sm" len="sm"/>
          </a:ln>
        </p:spPr>
      </p:cxnSp>
      <p:cxnSp>
        <p:nvCxnSpPr>
          <p:cNvPr id="1120" name="v6_residual_projection_to_add"/>
          <p:cNvCxnSpPr>
            <a:stCxn xmlns:a="http://schemas.openxmlformats.org/drawingml/2006/main" id="680" idx="3"/>
            <a:endCxn xmlns:a="http://schemas.openxmlformats.org/drawingml/2006/main" id="593" idx="0"/>
          </p:cNvCxnSpPr>
          <p:nvPr/>
        </p:nvCxnSpPr>
        <p:spPr>
          <a:xfrm xmlns:a="http://schemas.openxmlformats.org/drawingml/2006/main">
            <a:off x="8553450" y="1513437"/>
            <a:ext cx="657225" cy="595313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cxnSp>
        <p:nvCxnSpPr>
          <p:cNvPr id="1121" name="v6_input_to_residual_projection"/>
          <p:cNvCxnSpPr/>
          <p:nvPr/>
        </p:nvCxnSpPr>
        <p:spPr>
          <a:xfrm xmlns:a="http://schemas.openxmlformats.org/drawingml/2006/main" flipV="1">
            <a:off x="5095513" y="1528136"/>
            <a:ext cx="2624861" cy="792858"/>
          </a:xfrm>
          <a:prstGeom xmlns:a="http://schemas.openxmlformats.org/drawingml/2006/main" prst="bentConnector3">
            <a:avLst>
              <a:gd name="adj1" fmla="val -319"/>
            </a:avLst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sp>
        <p:nvSpPr>
          <p:cNvPr id="21" name="v5_temperature_output">
            <a:extLst xmlns:a="http://schemas.openxmlformats.org/drawingml/2006/main">
              <a:ext uri="{FF2B5EF4-FFF2-40B4-BE49-F238E27FC236}">
                <a16:creationId xmlns:a16="http://schemas.microsoft.com/office/drawing/2014/main" id="{F4A51466-510A-FBA2-CA3F-F9CBFA99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693" y="1628066"/>
            <a:ext cx="990600" cy="1277059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1B9BC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cxnSp>
        <p:nvCxnSpPr>
          <p:cNvPr id="1123" name="v6_scalar_to_output"/>
          <p:cNvCxnSpPr/>
          <p:nvPr/>
        </p:nvCxnSpPr>
        <p:spPr>
          <a:xfrm xmlns:a="http://schemas.openxmlformats.org/drawingml/2006/main">
            <a:off x="13779434" y="2292556"/>
            <a:ext cx="132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153"/>
            </a:solidFill>
            <a:prstDash val="solid"/>
            <a:tailEnd type="arrow" w="sm" len="sm"/>
          </a:ln>
        </p:spPr>
      </p:cxnSp>
      <p:sp>
        <p:nvSpPr>
          <p:cNvPr id="23" name="temperature_output_title">
            <a:extLst xmlns:a="http://schemas.openxmlformats.org/drawingml/2006/main">
              <a:ext uri="{FF2B5EF4-FFF2-40B4-BE49-F238E27FC236}">
                <a16:creationId xmlns:a16="http://schemas.microsoft.com/office/drawing/2014/main" id="{6843AB4F-39B7-0367-CA25-2EAFEB4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08" y="157035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Output</a:t>
            </a:r>
          </a:p>
        </p:txBody>
      </p:sp>
      <p:sp>
        <p:nvSpPr>
          <p:cNvPr id="24" name="a_thermo_tube">
            <a:extLst xmlns:a="http://schemas.openxmlformats.org/drawingml/2006/main">
              <a:ext uri="{FF2B5EF4-FFF2-40B4-BE49-F238E27FC236}">
                <a16:creationId xmlns:a16="http://schemas.microsoft.com/office/drawing/2014/main" id="{DB065ECE-A274-0E66-B72C-BF0B4F9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85" y="1885742"/>
            <a:ext cx="230029" cy="720090"/>
          </a:xfrm>
          <a:prstGeom xmlns:a="http://schemas.openxmlformats.org/drawingml/2006/main" prst="roundRect">
            <a:avLst>
              <a:gd name="adj" fmla="val 43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153"/>
            </a:solidFill>
            <a:prstDash val="solid"/>
          </a:ln>
        </p:spPr>
      </p:sp>
      <p:sp>
        <p:nvSpPr>
          <p:cNvPr id="25" name="a_thermo_tick1">
            <a:extLst xmlns:a="http://schemas.openxmlformats.org/drawingml/2006/main">
              <a:ext uri="{FF2B5EF4-FFF2-40B4-BE49-F238E27FC236}">
                <a16:creationId xmlns:a16="http://schemas.microsoft.com/office/drawing/2014/main" id="{1FE8BE75-8E07-E66E-935E-FDE8980C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8867" y="2000042"/>
            <a:ext cx="120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3153"/>
            </a:solidFill>
            <a:prstDash val="solid"/>
          </a:ln>
        </p:spPr>
      </p:sp>
      <p:sp>
        <p:nvSpPr>
          <p:cNvPr id="26" name="a_thermo_tick2">
            <a:extLst xmlns:a="http://schemas.openxmlformats.org/drawingml/2006/main">
              <a:ext uri="{FF2B5EF4-FFF2-40B4-BE49-F238E27FC236}">
                <a16:creationId xmlns:a16="http://schemas.microsoft.com/office/drawing/2014/main" id="{00A69856-4F9D-A745-8ACE-3ACBFBED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8867" y="2250073"/>
            <a:ext cx="120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3153"/>
            </a:solidFill>
            <a:prstDash val="solid"/>
          </a:ln>
        </p:spPr>
      </p:sp>
      <p:sp>
        <p:nvSpPr>
          <p:cNvPr id="27" name="a_thermo_tick3">
            <a:extLst xmlns:a="http://schemas.openxmlformats.org/drawingml/2006/main">
              <a:ext uri="{FF2B5EF4-FFF2-40B4-BE49-F238E27FC236}">
                <a16:creationId xmlns:a16="http://schemas.microsoft.com/office/drawing/2014/main" id="{270C57CA-E146-1B9A-7138-01BE9700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8867" y="2500105"/>
            <a:ext cx="120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3153"/>
            </a:solidFill>
            <a:prstDash val="solid"/>
          </a:ln>
        </p:spPr>
      </p:sp>
      <p:sp>
        <p:nvSpPr>
          <p:cNvPr id="28" name="a_thermo_bulb_outer">
            <a:extLst xmlns:a="http://schemas.openxmlformats.org/drawingml/2006/main">
              <a:ext uri="{FF2B5EF4-FFF2-40B4-BE49-F238E27FC236}">
                <a16:creationId xmlns:a16="http://schemas.microsoft.com/office/drawing/2014/main" id="{C0F5ED0F-C0A2-00BB-64DF-B304D35C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299" y="2517321"/>
            <a:ext cx="351101" cy="357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183153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E1239F-4BEC-48C7-65EF-2A502014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498" y="2379168"/>
            <a:ext cx="184704" cy="259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a_thermo_bulb_inner">
            <a:extLst xmlns:a="http://schemas.openxmlformats.org/drawingml/2006/main">
              <a:ext uri="{FF2B5EF4-FFF2-40B4-BE49-F238E27FC236}">
                <a16:creationId xmlns:a16="http://schemas.microsoft.com/office/drawing/2014/main" id="{33F179C3-C221-0FDF-FF4C-709CF506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834" y="2576596"/>
            <a:ext cx="240031" cy="238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67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" name="a_thermo_mercury">
            <a:extLst xmlns:a="http://schemas.openxmlformats.org/drawingml/2006/main">
              <a:ext uri="{FF2B5EF4-FFF2-40B4-BE49-F238E27FC236}">
                <a16:creationId xmlns:a16="http://schemas.microsoft.com/office/drawing/2014/main" id="{167B8ACF-A6B2-36D5-5AD0-64342F56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8843" y="2100681"/>
            <a:ext cx="100013" cy="5600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D67"/>
          </a:solidFill>
          <a:ln xmlns:a="http://schemas.openxmlformats.org/drawingml/2006/main" w="9525">
            <a:solidFill>
              <a:srgbClr val="C65D67"/>
            </a:solidFill>
            <a:prstDash val="solid"/>
          </a:ln>
        </p:spPr>
      </p:sp>
      <p:sp>
        <p:nvSpPr>
          <p:cNvPr id="32" name="v5_temperature_value">
            <a:extLst xmlns:a="http://schemas.openxmlformats.org/drawingml/2006/main">
              <a:ext uri="{FF2B5EF4-FFF2-40B4-BE49-F238E27FC236}">
                <a16:creationId xmlns:a16="http://schemas.microsoft.com/office/drawing/2014/main" id="{28944B9E-B149-09D9-4724-42A4B4AC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8867" y="2100681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T (°C)</a:t>
            </a:r>
          </a:p>
        </p:txBody>
      </p:sp>
    </p:spTree>
    <p:extLst>
      <p:ext uri="{BB962C8B-B14F-4D97-AF65-F5344CB8AC3E}">
        <p14:creationId xmlns:p14="http://schemas.microsoft.com/office/powerpoint/2010/main" val="1391774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board_title">
            <a:extLst xmlns:a="http://schemas.openxmlformats.org/drawingml/2006/main">
              <a:ext uri="{FF2B5EF4-FFF2-40B4-BE49-F238E27FC236}">
                <a16:creationId xmlns:a16="http://schemas.microsoft.com/office/drawing/2014/main" id="{5A4281B4-0A87-4420-A4F4-4B16257A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73153"/>
                </a:solidFill>
              </a:defRPr>
            </a:pPr>
            <a:r>
              <a:rPr sz="2325" b="1" i="0">
                <a:solidFill>
                  <a:srgbClr val="173153"/>
                </a:solidFill>
              </a:rPr>
              <a:t>Editable component board — model diagram</a:t>
            </a:r>
          </a:p>
        </p:txBody>
      </p:sp>
      <p:sp>
        <p:nvSpPr>
          <p:cNvPr id="2" name="board_note">
            <a:extLst xmlns:a="http://schemas.openxmlformats.org/drawingml/2006/main">
              <a:ext uri="{FF2B5EF4-FFF2-40B4-BE49-F238E27FC236}">
                <a16:creationId xmlns:a16="http://schemas.microsoft.com/office/drawing/2014/main" id="{9924FB64-126A-42BD-AABB-BBEFD5E2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0" i="0">
                <a:solidFill>
                  <a:srgbClr val="627087"/>
                </a:solidFill>
              </a:defRPr>
            </a:pPr>
            <a:r>
              <a:rPr sz="1500" b="0" i="0">
                <a:solidFill>
                  <a:srgbClr val="627087"/>
                </a:solidFill>
              </a:rPr>
              <a:t>Default template · clone the source slide, replace evidence-bound labels, preserve native objects</a:t>
            </a:r>
          </a:p>
        </p:txBody>
      </p:sp>
      <p:sp>
        <p:nvSpPr>
          <p:cNvPr id="3" name="board_rule">
            <a:extLst xmlns:a="http://schemas.openxmlformats.org/drawingml/2006/main">
              <a:ext uri="{FF2B5EF4-FFF2-40B4-BE49-F238E27FC236}">
                <a16:creationId xmlns:a16="http://schemas.microsoft.com/office/drawing/2014/main" id="{430C1F57-402E-4747-8E2E-2AAB895D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443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8B4C6"/>
            </a:solidFill>
            <a:prstDash val="solid"/>
          </a:ln>
        </p:spPr>
      </p:sp>
      <p:sp>
        <p:nvSpPr>
          <p:cNvPr id="4" name="board_inputs_label">
            <a:extLst xmlns:a="http://schemas.openxmlformats.org/drawingml/2006/main">
              <a:ext uri="{FF2B5EF4-FFF2-40B4-BE49-F238E27FC236}">
                <a16:creationId xmlns:a16="http://schemas.microsoft.com/office/drawing/2014/main" id="{006DBE17-F930-4A79-86F7-D49789E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27087"/>
                </a:solidFill>
              </a:defRPr>
            </a:pPr>
            <a:r>
              <a:rPr sz="1500" b="1" i="0">
                <a:solidFill>
                  <a:srgbClr val="627087"/>
                </a:solidFill>
              </a:rPr>
              <a:t>INPUT REPRESENTATIONS</a:t>
            </a:r>
          </a:p>
        </p:txBody>
      </p:sp>
      <p:sp>
        <p:nvSpPr>
          <p:cNvPr id="5" name="board_shape_prep">
            <a:extLst xmlns:a="http://schemas.openxmlformats.org/drawingml/2006/main">
              <a:ext uri="{FF2B5EF4-FFF2-40B4-BE49-F238E27FC236}">
                <a16:creationId xmlns:a16="http://schemas.microsoft.com/office/drawing/2014/main" id="{92066E47-F335-4FCB-A1FA-D4A0226D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26670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7E2B8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6" name="board_shape_prep_title">
            <a:extLst xmlns:a="http://schemas.openxmlformats.org/drawingml/2006/main">
              <a:ext uri="{FF2B5EF4-FFF2-40B4-BE49-F238E27FC236}">
                <a16:creationId xmlns:a16="http://schemas.microsoft.com/office/drawing/2014/main" id="{5C889C9C-1312-4FFB-AA7C-E066A16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Shape preparation</a:t>
            </a:r>
          </a:p>
        </p:txBody>
      </p:sp>
      <p:sp>
        <p:nvSpPr>
          <p:cNvPr id="7" name="board_shape_prep_row_1">
            <a:extLst xmlns:a="http://schemas.openxmlformats.org/drawingml/2006/main">
              <a:ext uri="{FF2B5EF4-FFF2-40B4-BE49-F238E27FC236}">
                <a16:creationId xmlns:a16="http://schemas.microsoft.com/office/drawing/2014/main" id="{8159BE7F-7809-45DA-8EF7-C4AC35D5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Range · 520–680 nm</a:t>
            </a:r>
          </a:p>
        </p:txBody>
      </p:sp>
      <p:sp>
        <p:nvSpPr>
          <p:cNvPr id="8" name="board_shape_prep_row_2">
            <a:extLst xmlns:a="http://schemas.openxmlformats.org/drawingml/2006/main">
              <a:ext uri="{FF2B5EF4-FFF2-40B4-BE49-F238E27FC236}">
                <a16:creationId xmlns:a16="http://schemas.microsoft.com/office/drawing/2014/main" id="{1112E4F8-7CD8-4DE9-BE1B-4C4D7212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Points · 256</a:t>
            </a:r>
          </a:p>
        </p:txBody>
      </p:sp>
      <p:sp>
        <p:nvSpPr>
          <p:cNvPr id="9" name="board_shape_prep_row_3">
            <a:extLst xmlns:a="http://schemas.openxmlformats.org/drawingml/2006/main">
              <a:ext uri="{FF2B5EF4-FFF2-40B4-BE49-F238E27FC236}">
                <a16:creationId xmlns:a16="http://schemas.microsoft.com/office/drawing/2014/main" id="{3FE7DA7F-0D1F-4F68-AE25-1280DDD8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Map · log1p</a:t>
            </a:r>
          </a:p>
        </p:txBody>
      </p:sp>
      <p:sp>
        <p:nvSpPr>
          <p:cNvPr id="10" name="board_shape_prep_row_4">
            <a:extLst xmlns:a="http://schemas.openxmlformats.org/drawingml/2006/main">
              <a:ext uri="{FF2B5EF4-FFF2-40B4-BE49-F238E27FC236}">
                <a16:creationId xmlns:a16="http://schemas.microsoft.com/office/drawing/2014/main" id="{DA1E2CD5-B4E7-46DD-8D67-B6C8C4BF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Scale · spectrum z</a:t>
            </a:r>
          </a:p>
        </p:txBody>
      </p:sp>
      <p:sp>
        <p:nvSpPr>
          <p:cNvPr id="11" name="board_shape_tensor">
            <a:extLst xmlns:a="http://schemas.openxmlformats.org/drawingml/2006/main">
              <a:ext uri="{FF2B5EF4-FFF2-40B4-BE49-F238E27FC236}">
                <a16:creationId xmlns:a16="http://schemas.microsoft.com/office/drawing/2014/main" id="{C7A09A23-EA1B-4FFB-8A05-16919B25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15240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5B2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2" name="board_shape_tensor_title">
            <a:extLst xmlns:a="http://schemas.openxmlformats.org/drawingml/2006/main">
              <a:ext uri="{FF2B5EF4-FFF2-40B4-BE49-F238E27FC236}">
                <a16:creationId xmlns:a16="http://schemas.microsoft.com/office/drawing/2014/main" id="{48C90A66-2F34-4662-9878-F3DDC616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73153"/>
                </a:solidFill>
              </a:defRPr>
            </a:pPr>
            <a:r>
              <a:rPr sz="1575" b="1" i="0">
                <a:solidFill>
                  <a:srgbClr val="173153"/>
                </a:solidFill>
              </a:rPr>
              <a:t>Shape vector</a:t>
            </a:r>
          </a:p>
        </p:txBody>
      </p:sp>
      <p:sp>
        <p:nvSpPr>
          <p:cNvPr id="13" name="board_shape_tensor_body">
            <a:extLst xmlns:a="http://schemas.openxmlformats.org/drawingml/2006/main">
              <a:ext uri="{FF2B5EF4-FFF2-40B4-BE49-F238E27FC236}">
                <a16:creationId xmlns:a16="http://schemas.microsoft.com/office/drawing/2014/main" id="{711CF444-6017-4611-8F38-0913F719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43100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73153"/>
                </a:solidFill>
              </a:defRPr>
            </a:pPr>
            <a:r>
              <a:rPr sz="1575" b="0" i="0">
                <a:solidFill>
                  <a:srgbClr val="173153"/>
                </a:solidFill>
              </a:rPr>
              <a:t>xₛ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73153"/>
                </a:solidFill>
              </a:defRPr>
            </a:pPr>
            <a:r>
              <a:rPr sz="1575" b="0" i="0">
                <a:solidFill>
                  <a:srgbClr val="173153"/>
                </a:solidFill>
              </a:rPr>
              <a:t>256-D</a:t>
            </a:r>
          </a:p>
        </p:txBody>
      </p:sp>
      <p:sp>
        <p:nvSpPr>
          <p:cNvPr id="14" name="board_physical">
            <a:extLst xmlns:a="http://schemas.openxmlformats.org/drawingml/2006/main">
              <a:ext uri="{FF2B5EF4-FFF2-40B4-BE49-F238E27FC236}">
                <a16:creationId xmlns:a16="http://schemas.microsoft.com/office/drawing/2014/main" id="{6C392042-8BD3-4F40-8C45-39228C4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085850"/>
            <a:ext cx="3143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E5B2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15" name="board_physical_title">
            <a:extLst xmlns:a="http://schemas.openxmlformats.org/drawingml/2006/main">
              <a:ext uri="{FF2B5EF4-FFF2-40B4-BE49-F238E27FC236}">
                <a16:creationId xmlns:a16="http://schemas.microsoft.com/office/drawing/2014/main" id="{338FAB00-E7F8-42C9-A6F5-5867CF6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1811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73153"/>
                </a:solidFill>
              </a:defRPr>
            </a:pPr>
            <a:r>
              <a:rPr sz="1575" b="1" i="0">
                <a:solidFill>
                  <a:srgbClr val="173153"/>
                </a:solidFill>
              </a:rPr>
              <a:t>Seven physical descriptors</a:t>
            </a:r>
          </a:p>
        </p:txBody>
      </p:sp>
      <p:sp>
        <p:nvSpPr>
          <p:cNvPr id="16" name="board_physical_row_1_label">
            <a:extLst xmlns:a="http://schemas.openxmlformats.org/drawingml/2006/main">
              <a:ext uri="{FF2B5EF4-FFF2-40B4-BE49-F238E27FC236}">
                <a16:creationId xmlns:a16="http://schemas.microsoft.com/office/drawing/2014/main" id="{A5009F5F-B193-4C8E-A59E-8C919E9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43050"/>
            <a:ext cx="8477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Ratio</a:t>
            </a:r>
          </a:p>
        </p:txBody>
      </p:sp>
      <p:sp>
        <p:nvSpPr>
          <p:cNvPr id="17" name="board_physical_row_1_value">
            <a:extLst xmlns:a="http://schemas.openxmlformats.org/drawingml/2006/main">
              <a:ext uri="{FF2B5EF4-FFF2-40B4-BE49-F238E27FC236}">
                <a16:creationId xmlns:a16="http://schemas.microsoft.com/office/drawing/2014/main" id="{F24F13F0-81C6-4473-863E-7F243DD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43050"/>
            <a:ext cx="19145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log(I₅₈₀/I₆₁₀)</a:t>
            </a:r>
          </a:p>
        </p:txBody>
      </p:sp>
      <p:sp>
        <p:nvSpPr>
          <p:cNvPr id="18" name="board_physical_row_2_label">
            <a:extLst xmlns:a="http://schemas.openxmlformats.org/drawingml/2006/main">
              <a:ext uri="{FF2B5EF4-FFF2-40B4-BE49-F238E27FC236}">
                <a16:creationId xmlns:a16="http://schemas.microsoft.com/office/drawing/2014/main" id="{EBD92D9D-5887-4A30-8F7B-F1AFD10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68475"/>
            <a:ext cx="8477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Points</a:t>
            </a:r>
          </a:p>
        </p:txBody>
      </p:sp>
      <p:sp>
        <p:nvSpPr>
          <p:cNvPr id="19" name="board_physical_row_2_value">
            <a:extLst xmlns:a="http://schemas.openxmlformats.org/drawingml/2006/main">
              <a:ext uri="{FF2B5EF4-FFF2-40B4-BE49-F238E27FC236}">
                <a16:creationId xmlns:a16="http://schemas.microsoft.com/office/drawing/2014/main" id="{775BCFF1-A1C3-4C90-9CFB-40744A7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768475"/>
            <a:ext cx="19145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log1p(I₅₈₀), log1p(I₆₁₀)</a:t>
            </a:r>
          </a:p>
        </p:txBody>
      </p:sp>
      <p:sp>
        <p:nvSpPr>
          <p:cNvPr id="20" name="board_physical_row_3_label">
            <a:extLst xmlns:a="http://schemas.openxmlformats.org/drawingml/2006/main">
              <a:ext uri="{FF2B5EF4-FFF2-40B4-BE49-F238E27FC236}">
                <a16:creationId xmlns:a16="http://schemas.microsoft.com/office/drawing/2014/main" id="{A5E95BF1-1DAE-490B-A81F-A24EE58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93900"/>
            <a:ext cx="8477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Area</a:t>
            </a:r>
          </a:p>
        </p:txBody>
      </p:sp>
      <p:sp>
        <p:nvSpPr>
          <p:cNvPr id="21" name="board_physical_row_3_value">
            <a:extLst xmlns:a="http://schemas.openxmlformats.org/drawingml/2006/main">
              <a:ext uri="{FF2B5EF4-FFF2-40B4-BE49-F238E27FC236}">
                <a16:creationId xmlns:a16="http://schemas.microsoft.com/office/drawing/2014/main" id="{C27AFC13-5142-4624-A45A-728D7AAF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93900"/>
            <a:ext cx="19145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log1p(∫I dλ)</a:t>
            </a:r>
          </a:p>
        </p:txBody>
      </p:sp>
      <p:sp>
        <p:nvSpPr>
          <p:cNvPr id="22" name="board_physical_row_4_label">
            <a:extLst xmlns:a="http://schemas.openxmlformats.org/drawingml/2006/main">
              <a:ext uri="{FF2B5EF4-FFF2-40B4-BE49-F238E27FC236}">
                <a16:creationId xmlns:a16="http://schemas.microsoft.com/office/drawing/2014/main" id="{453B6323-D041-443D-A5CC-1DAF8855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19325"/>
            <a:ext cx="8477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Max</a:t>
            </a:r>
          </a:p>
        </p:txBody>
      </p:sp>
      <p:sp>
        <p:nvSpPr>
          <p:cNvPr id="23" name="board_physical_row_4_value">
            <a:extLst xmlns:a="http://schemas.openxmlformats.org/drawingml/2006/main">
              <a:ext uri="{FF2B5EF4-FFF2-40B4-BE49-F238E27FC236}">
                <a16:creationId xmlns:a16="http://schemas.microsoft.com/office/drawing/2014/main" id="{B84EFA43-739C-4113-8BBD-0DCD9C89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19325"/>
            <a:ext cx="19145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log1p(max(I))</a:t>
            </a:r>
          </a:p>
        </p:txBody>
      </p:sp>
      <p:sp>
        <p:nvSpPr>
          <p:cNvPr id="24" name="board_physical_row_5_label">
            <a:extLst xmlns:a="http://schemas.openxmlformats.org/drawingml/2006/main">
              <a:ext uri="{FF2B5EF4-FFF2-40B4-BE49-F238E27FC236}">
                <a16:creationId xmlns:a16="http://schemas.microsoft.com/office/drawing/2014/main" id="{FECCF6E0-A664-4849-816D-515BD97F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4750"/>
            <a:ext cx="8477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Spread</a:t>
            </a:r>
          </a:p>
        </p:txBody>
      </p:sp>
      <p:sp>
        <p:nvSpPr>
          <p:cNvPr id="25" name="board_physical_row_5_value">
            <a:extLst xmlns:a="http://schemas.openxmlformats.org/drawingml/2006/main">
              <a:ext uri="{FF2B5EF4-FFF2-40B4-BE49-F238E27FC236}">
                <a16:creationId xmlns:a16="http://schemas.microsoft.com/office/drawing/2014/main" id="{7137A321-F74B-4DAC-9A14-AD0DCEA2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4750"/>
            <a:ext cx="19145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log1p(σ(I))</a:t>
            </a:r>
          </a:p>
        </p:txBody>
      </p:sp>
      <p:sp>
        <p:nvSpPr>
          <p:cNvPr id="26" name="board_physical_row_6_label">
            <a:extLst xmlns:a="http://schemas.openxmlformats.org/drawingml/2006/main">
              <a:ext uri="{FF2B5EF4-FFF2-40B4-BE49-F238E27FC236}">
                <a16:creationId xmlns:a16="http://schemas.microsoft.com/office/drawing/2014/main" id="{35E9CEB9-3BA7-413E-B98A-ABBF65F3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70175"/>
            <a:ext cx="8477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3153"/>
                </a:solidFill>
              </a:defRPr>
            </a:pPr>
            <a:r>
              <a:rPr sz="1425" b="1" i="0">
                <a:solidFill>
                  <a:srgbClr val="173153"/>
                </a:solidFill>
              </a:rPr>
              <a:t>Peak</a:t>
            </a:r>
          </a:p>
        </p:txBody>
      </p:sp>
      <p:sp>
        <p:nvSpPr>
          <p:cNvPr id="27" name="board_physical_row_6_value">
            <a:extLst xmlns:a="http://schemas.openxmlformats.org/drawingml/2006/main">
              <a:ext uri="{FF2B5EF4-FFF2-40B4-BE49-F238E27FC236}">
                <a16:creationId xmlns:a16="http://schemas.microsoft.com/office/drawing/2014/main" id="{C35C5BB7-3854-4CE3-8CE8-61B88B3E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70175"/>
            <a:ext cx="1914525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λpeak</a:t>
            </a:r>
          </a:p>
        </p:txBody>
      </p:sp>
      <p:sp>
        <p:nvSpPr>
          <p:cNvPr id="28" name="board_feature_encoder">
            <a:extLst xmlns:a="http://schemas.openxmlformats.org/drawingml/2006/main">
              <a:ext uri="{FF2B5EF4-FFF2-40B4-BE49-F238E27FC236}">
                <a16:creationId xmlns:a16="http://schemas.microsoft.com/office/drawing/2014/main" id="{F93685D0-F9C8-41D7-83B8-8F8A4B8F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71600"/>
            <a:ext cx="20002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B8E9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29" name="board_feature_encoder_title">
            <a:extLst xmlns:a="http://schemas.openxmlformats.org/drawingml/2006/main">
              <a:ext uri="{FF2B5EF4-FFF2-40B4-BE49-F238E27FC236}">
                <a16:creationId xmlns:a16="http://schemas.microsoft.com/office/drawing/2014/main" id="{29E426EA-725E-49BE-ABCD-48AEE330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3153"/>
                </a:solidFill>
              </a:defRPr>
            </a:pPr>
            <a:r>
              <a:rPr sz="1650" b="1" i="0">
                <a:solidFill>
                  <a:srgbClr val="173153"/>
                </a:solidFill>
              </a:rPr>
              <a:t>Feature encoder</a:t>
            </a:r>
          </a:p>
        </p:txBody>
      </p:sp>
      <p:sp>
        <p:nvSpPr>
          <p:cNvPr id="30" name="board_feature_encoder_body">
            <a:extLst xmlns:a="http://schemas.openxmlformats.org/drawingml/2006/main">
              <a:ext uri="{FF2B5EF4-FFF2-40B4-BE49-F238E27FC236}">
                <a16:creationId xmlns:a16="http://schemas.microsoft.com/office/drawing/2014/main" id="{28812C11-032D-4E39-AFBC-4143D492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1733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Linear 7→8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SiLU</a:t>
            </a:r>
          </a:p>
        </p:txBody>
      </p:sp>
      <p:sp>
        <p:nvSpPr>
          <p:cNvPr id="31" name="board_output">
            <a:extLst xmlns:a="http://schemas.openxmlformats.org/drawingml/2006/main">
              <a:ext uri="{FF2B5EF4-FFF2-40B4-BE49-F238E27FC236}">
                <a16:creationId xmlns:a16="http://schemas.microsoft.com/office/drawing/2014/main" id="{65495474-79C1-49DD-966C-E807989A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352550"/>
            <a:ext cx="18669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1B9BC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32" name="board_output_title">
            <a:extLst xmlns:a="http://schemas.openxmlformats.org/drawingml/2006/main">
              <a:ext uri="{FF2B5EF4-FFF2-40B4-BE49-F238E27FC236}">
                <a16:creationId xmlns:a16="http://schemas.microsoft.com/office/drawing/2014/main" id="{996055E2-775D-4F77-B985-9737381A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447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73153"/>
                </a:solidFill>
              </a:defRPr>
            </a:pPr>
            <a:r>
              <a:rPr sz="1725" b="1" i="0">
                <a:solidFill>
                  <a:srgbClr val="173153"/>
                </a:solidFill>
              </a:rPr>
              <a:t>Temperature</a:t>
            </a:r>
          </a:p>
        </p:txBody>
      </p:sp>
      <p:sp>
        <p:nvSpPr>
          <p:cNvPr id="33" name="board_output_body">
            <a:extLst xmlns:a="http://schemas.openxmlformats.org/drawingml/2006/main">
              <a:ext uri="{FF2B5EF4-FFF2-40B4-BE49-F238E27FC236}">
                <a16:creationId xmlns:a16="http://schemas.microsoft.com/office/drawing/2014/main" id="{94463455-BAC0-496D-9EB0-DAB34DAB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790700"/>
            <a:ext cx="160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0" i="0">
                <a:solidFill>
                  <a:srgbClr val="173153"/>
                </a:solidFill>
              </a:defRPr>
            </a:pPr>
            <a:r>
              <a:rPr sz="1950" b="0" i="0">
                <a:solidFill>
                  <a:srgbClr val="173153"/>
                </a:solidFill>
              </a:rPr>
              <a:t>T̂ (°C)</a:t>
            </a:r>
          </a:p>
        </p:txBody>
      </p:sp>
      <p:sp>
        <p:nvSpPr>
          <p:cNvPr id="34" name="board_arrow_label">
            <a:extLst xmlns:a="http://schemas.openxmlformats.org/drawingml/2006/main">
              <a:ext uri="{FF2B5EF4-FFF2-40B4-BE49-F238E27FC236}">
                <a16:creationId xmlns:a16="http://schemas.microsoft.com/office/drawing/2014/main" id="{3C1A1BE6-F75D-469B-BB81-B352FFAA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14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627087"/>
                </a:solidFill>
              </a:defRPr>
            </a:pPr>
            <a:r>
              <a:rPr sz="1425" b="1" i="0">
                <a:solidFill>
                  <a:srgbClr val="627087"/>
                </a:solidFill>
              </a:rPr>
              <a:t>CONNECTOR SEMANTICS</a:t>
            </a:r>
          </a:p>
        </p:txBody>
      </p:sp>
      <p:sp>
        <p:nvSpPr>
          <p:cNvPr id="35" name="board_arrow_solid">
            <a:extLst xmlns:a="http://schemas.openxmlformats.org/drawingml/2006/main">
              <a:ext uri="{FF2B5EF4-FFF2-40B4-BE49-F238E27FC236}">
                <a16:creationId xmlns:a16="http://schemas.microsoft.com/office/drawing/2014/main" id="{13329721-DD24-431F-B059-7472028B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524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73153"/>
            </a:solidFill>
            <a:prstDash val="solid"/>
          </a:ln>
        </p:spPr>
      </p:sp>
      <p:sp>
        <p:nvSpPr>
          <p:cNvPr id="36" name="board_arrow_solid_text">
            <a:extLst xmlns:a="http://schemas.openxmlformats.org/drawingml/2006/main">
              <a:ext uri="{FF2B5EF4-FFF2-40B4-BE49-F238E27FC236}">
                <a16:creationId xmlns:a16="http://schemas.microsoft.com/office/drawing/2014/main" id="{3074EFC4-82B4-4F19-AEFC-B7FE92D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657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learned path</a:t>
            </a:r>
          </a:p>
        </p:txBody>
      </p:sp>
      <p:sp>
        <p:nvSpPr>
          <p:cNvPr id="37" name="board_arrow_dash">
            <a:extLst xmlns:a="http://schemas.openxmlformats.org/drawingml/2006/main">
              <a:ext uri="{FF2B5EF4-FFF2-40B4-BE49-F238E27FC236}">
                <a16:creationId xmlns:a16="http://schemas.microsoft.com/office/drawing/2014/main" id="{66391E31-9038-4BBF-80EF-B6BDA95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098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73153"/>
            </a:solidFill>
            <a:prstDash val="dash"/>
          </a:ln>
        </p:spPr>
      </p:sp>
      <p:sp>
        <p:nvSpPr>
          <p:cNvPr id="38" name="board_arrow_dash_text">
            <a:extLst xmlns:a="http://schemas.openxmlformats.org/drawingml/2006/main">
              <a:ext uri="{FF2B5EF4-FFF2-40B4-BE49-F238E27FC236}">
                <a16:creationId xmlns:a16="http://schemas.microsoft.com/office/drawing/2014/main" id="{61E8877E-20B8-4C47-A0B8-B3298139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343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3153"/>
                </a:solidFill>
              </a:defRPr>
            </a:pPr>
            <a:r>
              <a:rPr sz="1425" b="0" i="0">
                <a:solidFill>
                  <a:srgbClr val="173153"/>
                </a:solidFill>
              </a:rPr>
              <a:t>physical path</a:t>
            </a:r>
          </a:p>
        </p:txBody>
      </p:sp>
      <p:sp>
        <p:nvSpPr>
          <p:cNvPr id="39" name="board_model_label">
            <a:extLst xmlns:a="http://schemas.openxmlformats.org/drawingml/2006/main">
              <a:ext uri="{FF2B5EF4-FFF2-40B4-BE49-F238E27FC236}">
                <a16:creationId xmlns:a16="http://schemas.microsoft.com/office/drawing/2014/main" id="{CB81131A-7D08-4C0A-876C-42C08A9D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27087"/>
                </a:solidFill>
              </a:defRPr>
            </a:pPr>
            <a:r>
              <a:rPr sz="1500" b="1" i="0">
                <a:solidFill>
                  <a:srgbClr val="627087"/>
                </a:solidFill>
              </a:rPr>
              <a:t>MODEL MODULES</a:t>
            </a:r>
          </a:p>
        </p:txBody>
      </p:sp>
      <p:sp>
        <p:nvSpPr>
          <p:cNvPr id="40" name="board_block">
            <a:extLst xmlns:a="http://schemas.openxmlformats.org/drawingml/2006/main">
              <a:ext uri="{FF2B5EF4-FFF2-40B4-BE49-F238E27FC236}">
                <a16:creationId xmlns:a16="http://schemas.microsoft.com/office/drawing/2014/main" id="{754ABDBA-E9E9-4DD5-B5CC-FEF75ECC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2476500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E3DFF2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41" name="board_block_title">
            <a:extLst xmlns:a="http://schemas.openxmlformats.org/drawingml/2006/main">
              <a:ext uri="{FF2B5EF4-FFF2-40B4-BE49-F238E27FC236}">
                <a16:creationId xmlns:a16="http://schemas.microsoft.com/office/drawing/2014/main" id="{DBAE3B64-E8D8-470B-9758-2777CCB4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73153"/>
                </a:solidFill>
              </a:defRPr>
            </a:pPr>
            <a:r>
              <a:rPr sz="1725" b="1" i="0">
                <a:solidFill>
                  <a:srgbClr val="173153"/>
                </a:solidFill>
              </a:rPr>
              <a:t>Inception 1D block</a:t>
            </a:r>
          </a:p>
        </p:txBody>
      </p:sp>
      <p:sp>
        <p:nvSpPr>
          <p:cNvPr id="42" name="board_block_body">
            <a:extLst xmlns:a="http://schemas.openxmlformats.org/drawingml/2006/main">
              <a:ext uri="{FF2B5EF4-FFF2-40B4-BE49-F238E27FC236}">
                <a16:creationId xmlns:a16="http://schemas.microsoft.com/office/drawing/2014/main" id="{24E0C870-E460-4B77-8894-EBC3D12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2209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k = 9 / 19 / 39 / pool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Concat → GN → SiLU</a:t>
            </a:r>
          </a:p>
        </p:txBody>
      </p:sp>
      <p:sp>
        <p:nvSpPr>
          <p:cNvPr id="43" name="board_residual">
            <a:extLst xmlns:a="http://schemas.openxmlformats.org/drawingml/2006/main">
              <a:ext uri="{FF2B5EF4-FFF2-40B4-BE49-F238E27FC236}">
                <a16:creationId xmlns:a16="http://schemas.microsoft.com/office/drawing/2014/main" id="{910C50CA-D35B-4DD6-A6C1-2059B02E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2000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B9A5D8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44" name="board_residual_title">
            <a:extLst xmlns:a="http://schemas.openxmlformats.org/drawingml/2006/main">
              <a:ext uri="{FF2B5EF4-FFF2-40B4-BE49-F238E27FC236}">
                <a16:creationId xmlns:a16="http://schemas.microsoft.com/office/drawing/2014/main" id="{1F728417-AD9B-4504-A116-9F95DEF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3153"/>
                </a:solidFill>
              </a:defRPr>
            </a:pPr>
            <a:r>
              <a:rPr sz="1650" b="1" i="0">
                <a:solidFill>
                  <a:srgbClr val="173153"/>
                </a:solidFill>
              </a:rPr>
              <a:t>Residual projection</a:t>
            </a:r>
          </a:p>
        </p:txBody>
      </p:sp>
      <p:sp>
        <p:nvSpPr>
          <p:cNvPr id="45" name="board_residual_body">
            <a:extLst xmlns:a="http://schemas.openxmlformats.org/drawingml/2006/main">
              <a:ext uri="{FF2B5EF4-FFF2-40B4-BE49-F238E27FC236}">
                <a16:creationId xmlns:a16="http://schemas.microsoft.com/office/drawing/2014/main" id="{CF1BF6BD-57F8-4B5C-A2AE-C7CE0A7A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5290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Conv1D k=1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1 → 16 ch</a:t>
            </a:r>
          </a:p>
        </p:txBody>
      </p:sp>
      <p:sp>
        <p:nvSpPr>
          <p:cNvPr id="46" name="board_pooling">
            <a:extLst xmlns:a="http://schemas.openxmlformats.org/drawingml/2006/main">
              <a:ext uri="{FF2B5EF4-FFF2-40B4-BE49-F238E27FC236}">
                <a16:creationId xmlns:a16="http://schemas.microsoft.com/office/drawing/2014/main" id="{B72BC5F3-91B6-4349-9558-E2609390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14750"/>
            <a:ext cx="2000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AFC4E5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47" name="board_pooling_title">
            <a:extLst xmlns:a="http://schemas.openxmlformats.org/drawingml/2006/main">
              <a:ext uri="{FF2B5EF4-FFF2-40B4-BE49-F238E27FC236}">
                <a16:creationId xmlns:a16="http://schemas.microsoft.com/office/drawing/2014/main" id="{C06D48B0-73A2-4599-BE27-12FAED55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0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3153"/>
                </a:solidFill>
              </a:defRPr>
            </a:pPr>
            <a:r>
              <a:rPr sz="1650" b="1" i="0">
                <a:solidFill>
                  <a:srgbClr val="173153"/>
                </a:solidFill>
              </a:rPr>
              <a:t>Global pooling</a:t>
            </a:r>
          </a:p>
        </p:txBody>
      </p:sp>
      <p:sp>
        <p:nvSpPr>
          <p:cNvPr id="48" name="board_pooling_body">
            <a:extLst xmlns:a="http://schemas.openxmlformats.org/drawingml/2006/main">
              <a:ext uri="{FF2B5EF4-FFF2-40B4-BE49-F238E27FC236}">
                <a16:creationId xmlns:a16="http://schemas.microsoft.com/office/drawing/2014/main" id="{66C74E0C-0285-447D-AADF-E63C5017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5290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mean (16) + max (16)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→ 32-D</a:t>
            </a:r>
          </a:p>
        </p:txBody>
      </p:sp>
      <p:sp>
        <p:nvSpPr>
          <p:cNvPr id="49" name="board_concat">
            <a:extLst xmlns:a="http://schemas.openxmlformats.org/drawingml/2006/main">
              <a:ext uri="{FF2B5EF4-FFF2-40B4-BE49-F238E27FC236}">
                <a16:creationId xmlns:a16="http://schemas.microsoft.com/office/drawing/2014/main" id="{96DA7CAD-5485-46B9-9BE3-9C5221D3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714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D6CBE8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50" name="board_concat_title">
            <a:extLst xmlns:a="http://schemas.openxmlformats.org/drawingml/2006/main">
              <a:ext uri="{FF2B5EF4-FFF2-40B4-BE49-F238E27FC236}">
                <a16:creationId xmlns:a16="http://schemas.microsoft.com/office/drawing/2014/main" id="{E5B0BDD3-FC7F-4E79-90FA-A3C6CC31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3153"/>
                </a:solidFill>
              </a:defRPr>
            </a:pPr>
            <a:r>
              <a:rPr sz="1650" b="1" i="0">
                <a:solidFill>
                  <a:srgbClr val="173153"/>
                </a:solidFill>
              </a:rPr>
              <a:t>Concat</a:t>
            </a:r>
          </a:p>
        </p:txBody>
      </p:sp>
      <p:sp>
        <p:nvSpPr>
          <p:cNvPr id="51" name="board_concat_body">
            <a:extLst xmlns:a="http://schemas.openxmlformats.org/drawingml/2006/main">
              <a:ext uri="{FF2B5EF4-FFF2-40B4-BE49-F238E27FC236}">
                <a16:creationId xmlns:a16="http://schemas.microsoft.com/office/drawing/2014/main" id="{3B24A3C4-3979-4018-89CE-5AA804A4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52900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32 + 8 = 40-D</a:t>
            </a:r>
          </a:p>
        </p:txBody>
      </p:sp>
      <p:sp>
        <p:nvSpPr>
          <p:cNvPr id="52" name="board_regressor">
            <a:extLst xmlns:a="http://schemas.openxmlformats.org/drawingml/2006/main">
              <a:ext uri="{FF2B5EF4-FFF2-40B4-BE49-F238E27FC236}">
                <a16:creationId xmlns:a16="http://schemas.microsoft.com/office/drawing/2014/main" id="{B2478CA2-B356-4E36-A544-9F27F11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24250"/>
            <a:ext cx="2381250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E3DFF2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53" name="board_regressor_title">
            <a:extLst xmlns:a="http://schemas.openxmlformats.org/drawingml/2006/main">
              <a:ext uri="{FF2B5EF4-FFF2-40B4-BE49-F238E27FC236}">
                <a16:creationId xmlns:a16="http://schemas.microsoft.com/office/drawing/2014/main" id="{E2309740-FA5E-418B-BC5D-30FDE17F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73153"/>
                </a:solidFill>
              </a:defRPr>
            </a:pPr>
            <a:r>
              <a:rPr sz="1725" b="1" i="0">
                <a:solidFill>
                  <a:srgbClr val="173153"/>
                </a:solidFill>
              </a:rPr>
              <a:t>Regression head</a:t>
            </a:r>
          </a:p>
        </p:txBody>
      </p:sp>
      <p:sp>
        <p:nvSpPr>
          <p:cNvPr id="54" name="board_regressor_body">
            <a:extLst xmlns:a="http://schemas.openxmlformats.org/drawingml/2006/main">
              <a:ext uri="{FF2B5EF4-FFF2-40B4-BE49-F238E27FC236}">
                <a16:creationId xmlns:a16="http://schemas.microsoft.com/office/drawing/2014/main" id="{F9EF9FC1-9BC3-4E4D-890E-C87A4A9C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62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40→16 + SiLU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Dropout 0.15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16→1</a:t>
            </a:r>
          </a:p>
        </p:txBody>
      </p:sp>
      <p:sp>
        <p:nvSpPr>
          <p:cNvPr id="55" name="board_add">
            <a:extLst xmlns:a="http://schemas.openxmlformats.org/drawingml/2006/main">
              <a:ext uri="{FF2B5EF4-FFF2-40B4-BE49-F238E27FC236}">
                <a16:creationId xmlns:a16="http://schemas.microsoft.com/office/drawing/2014/main" id="{A786B26B-2A55-43C0-B716-052FD75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73153"/>
            </a:solidFill>
            <a:prstDash val="solid"/>
          </a:ln>
        </p:spPr>
      </p:sp>
      <p:sp>
        <p:nvSpPr>
          <p:cNvPr id="56" name="board_add_plus_h">
            <a:extLst xmlns:a="http://schemas.openxmlformats.org/drawingml/2006/main">
              <a:ext uri="{FF2B5EF4-FFF2-40B4-BE49-F238E27FC236}">
                <a16:creationId xmlns:a16="http://schemas.microsoft.com/office/drawing/2014/main" id="{50EBFF29-E6DB-444F-9083-994589F0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18147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3153"/>
            </a:solidFill>
            <a:prstDash val="solid"/>
          </a:ln>
        </p:spPr>
      </p:sp>
      <p:sp>
        <p:nvSpPr>
          <p:cNvPr id="57" name="board_add_plus_v">
            <a:extLst xmlns:a="http://schemas.openxmlformats.org/drawingml/2006/main">
              <a:ext uri="{FF2B5EF4-FFF2-40B4-BE49-F238E27FC236}">
                <a16:creationId xmlns:a16="http://schemas.microsoft.com/office/drawing/2014/main" id="{7316ED8E-60D8-49E5-AC0D-E9E58957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10527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3153"/>
            </a:solidFill>
            <a:prstDash val="solid"/>
          </a:ln>
        </p:spPr>
      </p:sp>
      <p:sp>
        <p:nvSpPr>
          <p:cNvPr id="58" name="board_tokens_label">
            <a:extLst xmlns:a="http://schemas.openxmlformats.org/drawingml/2006/main">
              <a:ext uri="{FF2B5EF4-FFF2-40B4-BE49-F238E27FC236}">
                <a16:creationId xmlns:a16="http://schemas.microsoft.com/office/drawing/2014/main" id="{6DAE2684-32D2-4136-9E1A-6B677AE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27087"/>
                </a:solidFill>
              </a:defRPr>
            </a:pPr>
            <a:r>
              <a:rPr sz="1500" b="1" i="0">
                <a:solidFill>
                  <a:srgbClr val="627087"/>
                </a:solidFill>
              </a:rPr>
              <a:t>STYLE &amp; FINAL-SIZE TOKENS</a:t>
            </a:r>
          </a:p>
        </p:txBody>
      </p:sp>
      <p:sp>
        <p:nvSpPr>
          <p:cNvPr id="59" name="board_token_0">
            <a:extLst xmlns:a="http://schemas.openxmlformats.org/drawingml/2006/main">
              <a:ext uri="{FF2B5EF4-FFF2-40B4-BE49-F238E27FC236}">
                <a16:creationId xmlns:a16="http://schemas.microsoft.com/office/drawing/2014/main" id="{9303B2F5-68DD-4B80-8ED4-78B2ACFC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4668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CAE8"/>
          </a:solidFill>
          <a:ln xmlns:a="http://schemas.openxmlformats.org/drawingml/2006/main" w="17145">
            <a:solidFill>
              <a:srgbClr val="173153"/>
            </a:solidFill>
            <a:prstDash val="solid"/>
          </a:ln>
        </p:spPr>
      </p:sp>
      <p:sp>
        <p:nvSpPr>
          <p:cNvPr id="60" name="board_token_0_label">
            <a:extLst xmlns:a="http://schemas.openxmlformats.org/drawingml/2006/main">
              <a:ext uri="{FF2B5EF4-FFF2-40B4-BE49-F238E27FC236}">
                <a16:creationId xmlns:a16="http://schemas.microsoft.com/office/drawing/2014/main" id="{BA0E57A3-8CB8-45A1-B1E9-03613AD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Input</a:t>
            </a:r>
          </a:p>
        </p:txBody>
      </p:sp>
      <p:sp>
        <p:nvSpPr>
          <p:cNvPr id="61" name="board_token_1">
            <a:extLst xmlns:a="http://schemas.openxmlformats.org/drawingml/2006/main">
              <a:ext uri="{FF2B5EF4-FFF2-40B4-BE49-F238E27FC236}">
                <a16:creationId xmlns:a16="http://schemas.microsoft.com/office/drawing/2014/main" id="{2CAD1B69-95CE-411C-BE52-1F7AFC08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57900"/>
            <a:ext cx="14668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7E2B8"/>
          </a:solidFill>
          <a:ln xmlns:a="http://schemas.openxmlformats.org/drawingml/2006/main" w="17145">
            <a:solidFill>
              <a:srgbClr val="173153"/>
            </a:solidFill>
            <a:prstDash val="solid"/>
          </a:ln>
        </p:spPr>
      </p:sp>
      <p:sp>
        <p:nvSpPr>
          <p:cNvPr id="62" name="board_token_1_label">
            <a:extLst xmlns:a="http://schemas.openxmlformats.org/drawingml/2006/main">
              <a:ext uri="{FF2B5EF4-FFF2-40B4-BE49-F238E27FC236}">
                <a16:creationId xmlns:a16="http://schemas.microsoft.com/office/drawing/2014/main" id="{B9A19FDA-58D5-4225-9D1F-E40AB1CF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172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Preprocess</a:t>
            </a:r>
          </a:p>
        </p:txBody>
      </p:sp>
      <p:sp>
        <p:nvSpPr>
          <p:cNvPr id="63" name="board_token_2">
            <a:extLst xmlns:a="http://schemas.openxmlformats.org/drawingml/2006/main">
              <a:ext uri="{FF2B5EF4-FFF2-40B4-BE49-F238E27FC236}">
                <a16:creationId xmlns:a16="http://schemas.microsoft.com/office/drawing/2014/main" id="{5797C928-2D6A-419B-9ADE-8EB07C12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57900"/>
            <a:ext cx="14668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5B2"/>
          </a:solidFill>
          <a:ln xmlns:a="http://schemas.openxmlformats.org/drawingml/2006/main" w="17145">
            <a:solidFill>
              <a:srgbClr val="173153"/>
            </a:solidFill>
            <a:prstDash val="solid"/>
          </a:ln>
        </p:spPr>
      </p:sp>
      <p:sp>
        <p:nvSpPr>
          <p:cNvPr id="64" name="board_token_2_label">
            <a:extLst xmlns:a="http://schemas.openxmlformats.org/drawingml/2006/main">
              <a:ext uri="{FF2B5EF4-FFF2-40B4-BE49-F238E27FC236}">
                <a16:creationId xmlns:a16="http://schemas.microsoft.com/office/drawing/2014/main" id="{1B36E90F-CBD2-49B8-9628-30AC6CCD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72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Features</a:t>
            </a:r>
          </a:p>
        </p:txBody>
      </p:sp>
      <p:sp>
        <p:nvSpPr>
          <p:cNvPr id="65" name="board_token_3">
            <a:extLst xmlns:a="http://schemas.openxmlformats.org/drawingml/2006/main">
              <a:ext uri="{FF2B5EF4-FFF2-40B4-BE49-F238E27FC236}">
                <a16:creationId xmlns:a16="http://schemas.microsoft.com/office/drawing/2014/main" id="{0E83228F-1543-42DE-89A9-48AC1A5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57900"/>
            <a:ext cx="14668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DFF2"/>
          </a:solidFill>
          <a:ln xmlns:a="http://schemas.openxmlformats.org/drawingml/2006/main" w="17145">
            <a:solidFill>
              <a:srgbClr val="173153"/>
            </a:solidFill>
            <a:prstDash val="solid"/>
          </a:ln>
        </p:spPr>
      </p:sp>
      <p:sp>
        <p:nvSpPr>
          <p:cNvPr id="66" name="board_token_3_label">
            <a:extLst xmlns:a="http://schemas.openxmlformats.org/drawingml/2006/main">
              <a:ext uri="{FF2B5EF4-FFF2-40B4-BE49-F238E27FC236}">
                <a16:creationId xmlns:a16="http://schemas.microsoft.com/office/drawing/2014/main" id="{112BC7DF-6BF6-4132-9FEB-B7C6323D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172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Model</a:t>
            </a:r>
          </a:p>
        </p:txBody>
      </p:sp>
      <p:sp>
        <p:nvSpPr>
          <p:cNvPr id="67" name="board_token_4">
            <a:extLst xmlns:a="http://schemas.openxmlformats.org/drawingml/2006/main">
              <a:ext uri="{FF2B5EF4-FFF2-40B4-BE49-F238E27FC236}">
                <a16:creationId xmlns:a16="http://schemas.microsoft.com/office/drawing/2014/main" id="{AA9F917B-4680-4A8C-9686-70D98CB9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57900"/>
            <a:ext cx="14668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B8E9"/>
          </a:solidFill>
          <a:ln xmlns:a="http://schemas.openxmlformats.org/drawingml/2006/main" w="17145">
            <a:solidFill>
              <a:srgbClr val="173153"/>
            </a:solidFill>
            <a:prstDash val="solid"/>
          </a:ln>
        </p:spPr>
      </p:sp>
      <p:sp>
        <p:nvSpPr>
          <p:cNvPr id="68" name="board_token_4_label">
            <a:extLst xmlns:a="http://schemas.openxmlformats.org/drawingml/2006/main">
              <a:ext uri="{FF2B5EF4-FFF2-40B4-BE49-F238E27FC236}">
                <a16:creationId xmlns:a16="http://schemas.microsoft.com/office/drawing/2014/main" id="{576BEB83-757B-40CD-AD86-BFD5ACE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72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Physical</a:t>
            </a:r>
          </a:p>
        </p:txBody>
      </p:sp>
      <p:sp>
        <p:nvSpPr>
          <p:cNvPr id="69" name="board_token_5">
            <a:extLst xmlns:a="http://schemas.openxmlformats.org/drawingml/2006/main">
              <a:ext uri="{FF2B5EF4-FFF2-40B4-BE49-F238E27FC236}">
                <a16:creationId xmlns:a16="http://schemas.microsoft.com/office/drawing/2014/main" id="{4B2D63DA-BF97-4041-816D-E1DA680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057900"/>
            <a:ext cx="14668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CBE8"/>
          </a:solidFill>
          <a:ln xmlns:a="http://schemas.openxmlformats.org/drawingml/2006/main" w="17145">
            <a:solidFill>
              <a:srgbClr val="173153"/>
            </a:solidFill>
            <a:prstDash val="solid"/>
          </a:ln>
        </p:spPr>
      </p:sp>
      <p:sp>
        <p:nvSpPr>
          <p:cNvPr id="70" name="board_token_5_label">
            <a:extLst xmlns:a="http://schemas.openxmlformats.org/drawingml/2006/main">
              <a:ext uri="{FF2B5EF4-FFF2-40B4-BE49-F238E27FC236}">
                <a16:creationId xmlns:a16="http://schemas.microsoft.com/office/drawing/2014/main" id="{E80C9A3C-D1FC-4CDE-BD84-BF9107F7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72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Fusion</a:t>
            </a:r>
          </a:p>
        </p:txBody>
      </p:sp>
      <p:sp>
        <p:nvSpPr>
          <p:cNvPr id="71" name="board_token_6">
            <a:extLst xmlns:a="http://schemas.openxmlformats.org/drawingml/2006/main">
              <a:ext uri="{FF2B5EF4-FFF2-40B4-BE49-F238E27FC236}">
                <a16:creationId xmlns:a16="http://schemas.microsoft.com/office/drawing/2014/main" id="{A191414C-0B17-4F06-97BB-EE6917A0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057900"/>
            <a:ext cx="14668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B9BC"/>
          </a:solidFill>
          <a:ln xmlns:a="http://schemas.openxmlformats.org/drawingml/2006/main" w="17145">
            <a:solidFill>
              <a:srgbClr val="173153"/>
            </a:solidFill>
            <a:prstDash val="solid"/>
          </a:ln>
        </p:spPr>
      </p:sp>
      <p:sp>
        <p:nvSpPr>
          <p:cNvPr id="72" name="board_token_6_label">
            <a:extLst xmlns:a="http://schemas.openxmlformats.org/drawingml/2006/main">
              <a:ext uri="{FF2B5EF4-FFF2-40B4-BE49-F238E27FC236}">
                <a16:creationId xmlns:a16="http://schemas.microsoft.com/office/drawing/2014/main" id="{704D46DA-7110-45D4-BCEC-A496840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3153"/>
                </a:solidFill>
              </a:defRPr>
            </a:pPr>
            <a:r>
              <a:rPr sz="1500" b="1" i="0">
                <a:solidFill>
                  <a:srgbClr val="173153"/>
                </a:solidFill>
              </a:rPr>
              <a:t>Output</a:t>
            </a:r>
          </a:p>
        </p:txBody>
      </p:sp>
      <p:sp>
        <p:nvSpPr>
          <p:cNvPr id="73" name="board_final_size">
            <a:extLst xmlns:a="http://schemas.openxmlformats.org/drawingml/2006/main">
              <a:ext uri="{FF2B5EF4-FFF2-40B4-BE49-F238E27FC236}">
                <a16:creationId xmlns:a16="http://schemas.microsoft.com/office/drawing/2014/main" id="{7B3B6FED-C396-4157-A27C-624FF185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7550"/>
            <a:ext cx="34290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20955">
            <a:solidFill>
              <a:srgbClr val="173153"/>
            </a:solidFill>
            <a:prstDash val="solid"/>
          </a:ln>
        </p:spPr>
      </p:sp>
      <p:sp>
        <p:nvSpPr>
          <p:cNvPr id="74" name="board_final_size_title">
            <a:extLst xmlns:a="http://schemas.openxmlformats.org/drawingml/2006/main">
              <a:ext uri="{FF2B5EF4-FFF2-40B4-BE49-F238E27FC236}">
                <a16:creationId xmlns:a16="http://schemas.microsoft.com/office/drawing/2014/main" id="{072EAF32-6737-42A8-B761-22CD38DA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628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3153"/>
                </a:solidFill>
              </a:defRPr>
            </a:pPr>
            <a:r>
              <a:rPr sz="1650" b="1" i="0">
                <a:solidFill>
                  <a:srgbClr val="173153"/>
                </a:solidFill>
              </a:rPr>
              <a:t>Publication-size gate</a:t>
            </a:r>
          </a:p>
        </p:txBody>
      </p:sp>
      <p:sp>
        <p:nvSpPr>
          <p:cNvPr id="75" name="board_final_size_body">
            <a:extLst xmlns:a="http://schemas.openxmlformats.org/drawingml/2006/main">
              <a:ext uri="{FF2B5EF4-FFF2-40B4-BE49-F238E27FC236}">
                <a16:creationId xmlns:a16="http://schemas.microsoft.com/office/drawing/2014/main" id="{DE5515B8-3ED2-454E-B992-CBA52C60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05700"/>
            <a:ext cx="3162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Target width: 183 mm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Scale factor: 0.432</a:t>
            </a:r>
          </a:p>
          <a:p xmlns:a="http://schemas.openxmlformats.org/drawingml/2006/main">
            <a:pPr algn="ctr">
              <a:buNone/>
              <a:defRPr sz="1500" b="0" i="0">
                <a:solidFill>
                  <a:srgbClr val="173153"/>
                </a:solidFill>
              </a:defRPr>
            </a:pPr>
            <a:r>
              <a:rPr sz="1500" b="0" i="0">
                <a:solidFill>
                  <a:srgbClr val="173153"/>
                </a:solidFill>
              </a:rPr>
              <a:t>Minimum final text: 6.16 pt</a:t>
            </a:r>
          </a:p>
        </p:txBody>
      </p:sp>
      <p:sp>
        <p:nvSpPr>
          <p:cNvPr id="76" name="board_editability">
            <a:extLst xmlns:a="http://schemas.openxmlformats.org/drawingml/2006/main">
              <a:ext uri="{FF2B5EF4-FFF2-40B4-BE49-F238E27FC236}">
                <a16:creationId xmlns:a16="http://schemas.microsoft.com/office/drawing/2014/main" id="{FFEE01D5-401C-433F-B571-2EF966CC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334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 i="1">
                <a:solidFill>
                  <a:srgbClr val="627087"/>
                </a:solidFill>
              </a:defRPr>
            </a:pPr>
            <a:r>
              <a:rPr sz="1500" b="0" i="1">
                <a:solidFill>
                  <a:srgbClr val="627087"/>
                </a:solidFill>
              </a:rPr>
              <a:t>Level A · native PowerPoint text, shapes, freeform spectrum, and connectors</a:t>
            </a:r>
          </a:p>
        </p:txBody>
      </p:sp>
    </p:spTree>
    <p:extLst>
      <p:ext uri="{BB962C8B-B14F-4D97-AF65-F5344CB8AC3E}">
        <p14:creationId xmlns:p14="http://schemas.microsoft.com/office/powerpoint/2010/main" val="263082018"/>
      </p:ext>
    </p:extLst>
  </p:cSld>
</p:sld>
</file>

<file path=ppt/theme/theme1.xml><?xml version="1.0" encoding="utf-8"?>
<a:theme xmlns:a="http://schemas.openxmlformats.org/drawingml/2006/main" name="ChatGPT">
  <a:themeElements>
    <a:clrScheme name="Spectrum Paper V4">
      <a:dk1>
        <a:srgbClr val="000000"/>
      </a:dk1>
      <a:lt1>
        <a:srgbClr val="FFFFFF"/>
      </a:lt1>
      <a:dk2>
        <a:srgbClr val="173153"/>
      </a:dk2>
      <a:lt2>
        <a:srgbClr val="F7F9FC"/>
      </a:lt2>
      <a:accent1>
        <a:srgbClr val="B7CAE8"/>
      </a:accent1>
      <a:accent2>
        <a:srgbClr val="C7E2B8"/>
      </a:accent2>
      <a:accent3>
        <a:srgbClr val="F7E5B2"/>
      </a:accent3>
      <a:accent4>
        <a:srgbClr val="E3DFF2"/>
      </a:accent4>
      <a:accent5>
        <a:srgbClr val="F1B9BC"/>
      </a:accent5>
      <a:accent6>
        <a:srgbClr val="E38359"/>
      </a:accent6>
      <a:hlink>
        <a:srgbClr val="E38359"/>
      </a:hlink>
      <a:folHlink>
        <a:srgbClr val="DDB8E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ectrum Paper V4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pectrum Paper V4">
      <a:dk1>
        <a:srgbClr val="000000"/>
      </a:dk1>
      <a:lt1>
        <a:srgbClr val="FFFFFF"/>
      </a:lt1>
      <a:dk2>
        <a:srgbClr val="173153"/>
      </a:dk2>
      <a:lt2>
        <a:srgbClr val="F7F9FC"/>
      </a:lt2>
      <a:accent1>
        <a:srgbClr val="B7CAE8"/>
      </a:accent1>
      <a:accent2>
        <a:srgbClr val="C7E2B8"/>
      </a:accent2>
      <a:accent3>
        <a:srgbClr val="F7E5B2"/>
      </a:accent3>
      <a:accent4>
        <a:srgbClr val="E3DFF2"/>
      </a:accent4>
      <a:accent5>
        <a:srgbClr val="F1B9BC"/>
      </a:accent5>
      <a:accent6>
        <a:srgbClr val="E38359"/>
      </a:accent6>
      <a:hlink>
        <a:srgbClr val="E38359"/>
      </a:hlink>
      <a:folHlink>
        <a:srgbClr val="DDB8E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ectrum Paper V4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2026-08-30T03:52:25.7240000Z</dcterms:created>
  <dcterms:modified xsi:type="dcterms:W3CDTF">2026-08-30T03:52:25.7240000Z</dcterms:modified>
</coreProperties>
</file>